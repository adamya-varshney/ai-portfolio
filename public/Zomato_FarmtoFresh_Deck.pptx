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case study: improving farm-to-table discovery inside the Zomato ordering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chain is broken at three points: consumer, restaurant, farmer.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one: market and external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Demand, supply, and frequency all point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Regulation, competition, behaviour, infrastructure, and climate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workaround happens off-platform.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Farmers have no consumer-facing channel inside restaurant 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shortcomings of the status quo — the last two are platform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two: what success means, and who we build for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Two-sided objective, and why solving both together compounds.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user objectives, from discovery through to felt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candidate personas: solo youth, parent, corporate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already pay a premium; none has a discovery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verbatims — the same gap stated three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Arjun first: frequency, conversion ease, AOV signal, reach, and amplification.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stories in GIVEN / WHEN / THEN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three: the flow and the four solution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placement on Zomato, with Farm Fresh filter and Farm Verified surfaces inserted into the existing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consumer-facing pillars sitting on one operational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four: requirements across functional, technical, design, and non-functional.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Home, listing, and restaurant page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card behaviour, login and address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Tracking, freshness rating, and the nightly preference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capability paired with its technical and design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Scale, accessibility, reliability, security,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five: the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 Fresh chip and rail land on the existing home page without displacing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Badge in the restaurant header; impact card in the cart naming the producer and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Tracking screen carries the sourcing summary; prototype link for the live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six: how verification is earned, where it breaks, and how success is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restaurant must submit before an audit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Zomato verifies after the declaration is submitted.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consumer-facing failure modes the design has to answer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demand metrics, three supply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farmfresh-bitebox.lovable.app/" TargetMode="Externa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308" r="-308" t="0" b="0"/>
          <a:stretch/>
        </p:blipFill>
        <p:spPr>
          <a:xfrm>
            <a:off x="819208" y="914289"/>
            <a:ext cx="2247900" cy="2247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89" y="5769935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ZOMATO · FOOD DELIVERY PLATFORM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90589" y="6413328"/>
            <a:ext cx="13931246" cy="2058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052"/>
              </a:lnSpc>
              <a:buNone/>
            </a:pPr>
            <a:r>
              <a:rPr lang="en-US" sz="7800" b="1" spc="-23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Farm-to-Table Discovery of Restaurants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990589" y="8776786"/>
            <a:ext cx="17937365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Case Study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538641"/>
            <a:ext cx="15304730" cy="159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41"/>
              </a:lnSpc>
              <a:buNone/>
            </a:pPr>
            <a:r>
              <a:rPr lang="en-US" sz="3300" b="1" spc="-6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food consumers in India are increasingly health-conscious and values-driven, yet the Zomato ordering experience offers no mechanism to discover, verify, or prefer meals made with locally sourced ingredients.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90589" y="3440388"/>
            <a:ext cx="15304730" cy="1336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55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same time, small-scale farmers and farm-to-table restaurants that invest in sustainable sourcing have no way to signal this differentiation within the platform — making their premium positioning invisible and economically unjustifiable to end consumers.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90589" y="5195798"/>
            <a:ext cx="16306695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6" name="Text 4"/>
          <p:cNvSpPr/>
          <p:nvPr/>
        </p:nvSpPr>
        <p:spPr>
          <a:xfrm>
            <a:off x="990589" y="5586294"/>
            <a:ext cx="15304730" cy="1336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55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broken value chain: consumers order blind to ingredient origin, restaurants cannot monetise their sourcing story, and local farmers remain locked out of urban demand despite sitting geographically close to it.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391678"/>
            <a:ext cx="17937365" cy="1131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90589" y="7789849"/>
            <a:ext cx="1714455" cy="380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0589" y="8094525"/>
            <a:ext cx="17937365" cy="872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and Context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90589" y="9157761"/>
            <a:ext cx="17937365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trends · External factors · Current scenario · Limitations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BACKGROUND AND CONTEXT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17100"/>
            <a:ext cx="3905228" cy="3532470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5" name="Text 3"/>
          <p:cNvSpPr/>
          <p:nvPr/>
        </p:nvSpPr>
        <p:spPr>
          <a:xfrm>
            <a:off x="1276223" y="2840948"/>
            <a:ext cx="3667356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26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76223" y="3705154"/>
            <a:ext cx="3433979" cy="1385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urban Indian consumers are willing to pay a premium for sustainably sourced food (Nielsen, 2023)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124324" y="2517100"/>
            <a:ext cx="3905359" cy="3532470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8" name="Text 6"/>
          <p:cNvSpPr/>
          <p:nvPr/>
        </p:nvSpPr>
        <p:spPr>
          <a:xfrm>
            <a:off x="5409958" y="2840948"/>
            <a:ext cx="3667500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26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09958" y="3705154"/>
            <a:ext cx="3434114" cy="172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FPOs hold high-quality local produce with no efficient urban distribution channel — supply exists but is disconnected from demand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58190" y="2517100"/>
            <a:ext cx="3905228" cy="3532470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11" name="Text 9"/>
          <p:cNvSpPr/>
          <p:nvPr/>
        </p:nvSpPr>
        <p:spPr>
          <a:xfrm>
            <a:off x="9543824" y="2840948"/>
            <a:ext cx="3667356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26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543824" y="3705154"/>
            <a:ext cx="3433979" cy="2058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 orders per week per urban Indian, making food-tech the highest-frequency lever to shift food consumption behaviour at scale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91924" y="2517100"/>
            <a:ext cx="3905359" cy="3532470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13677559" y="2840948"/>
            <a:ext cx="3667500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26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20–40%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3677559" y="3705154"/>
            <a:ext cx="3434114" cy="2058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ASPs at farm-to-table restaurants in Mumbai, Bengaluru, Delhi, and Pune — yet their differentiation is entirely invisible on the platform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0589" y="6633465"/>
            <a:ext cx="95211" cy="95211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7" name="Text 15"/>
          <p:cNvSpPr/>
          <p:nvPr/>
        </p:nvSpPr>
        <p:spPr>
          <a:xfrm>
            <a:off x="1276223" y="6468629"/>
            <a:ext cx="16501692" cy="87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977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Post-COVID health consciousness has structurally shifted food priorities — immunity, ingredient quality, and gut health are now mainstream concerns, not niche ones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90589" y="7684180"/>
            <a:ext cx="95211" cy="95211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9" name="Text 17"/>
          <p:cNvSpPr/>
          <p:nvPr/>
        </p:nvSpPr>
        <p:spPr>
          <a:xfrm>
            <a:off x="1276223" y="7519345"/>
            <a:ext cx="16501692" cy="87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977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conscious consumer cohort — millennials and Gen Z — represents Zomato's highest-LTV users by order frequency and AOV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BACKGROUND AND CONTEXT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Factors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589" y="2555184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pressure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90589" y="3020024"/>
            <a:ext cx="8123224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FSSAI's Eat Right India initiative is moving toward ingredient traceability mandates; building a voluntary sourcing layer now means compliance readiness later, not reactive scrambling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410528" y="2555184"/>
            <a:ext cx="8675431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pressure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0528" y="3020024"/>
            <a:ext cx="8123358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has a shallow self-declared "Healthy" filter; Deliveroo launched a "Sustainable Restaurants" badge in the UK; DoorDash has tested local-first discovery in the US — the first mover to build a verified, credible layer sets the trust standard others are measured against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589" y="4710742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behaviour shift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0589" y="5175582"/>
            <a:ext cx="8123224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Post-pandemic India saw a sustained rise in food provenance interest; CSA subscriptions, farm-to-fork restaurant growth, and brands like Organic India entering mainstream households confirm the consumer has shifted ahead of the platform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10528" y="4710742"/>
            <a:ext cx="8675431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readiness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410528" y="5175582"/>
            <a:ext cx="8123358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 improvements, GPS-enabled farm-to-warehouse tracking, and QR-based provenance labelling have significantly lowered the technical and cost barrier to building a sourcing layer compared to 2019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589" y="6866299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and macro risk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0589" y="7331139"/>
            <a:ext cx="8123224" cy="721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Erratic monsoons, crop losses, and supply chain disruptions have made local sourcing a resilience argument for consumers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SCENARIO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Consumers Solve It Today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589" y="2307504"/>
            <a:ext cx="17937365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resort to high-effort, low-reliability workarounds outside the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90589" y="3047413"/>
            <a:ext cx="373311" cy="35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16207" y="3039066"/>
            <a:ext cx="15155748" cy="73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64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before ordering </a:t>
            </a:r>
            <a:pPr algn="l" indent="0" marL="0">
              <a:lnSpc>
                <a:spcPct val="122164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looking up whether a specific restaurant sources locally or has farm-to-table credentials, adding significant friction to the decision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0589" y="3988310"/>
            <a:ext cx="373311" cy="35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16207" y="3979963"/>
            <a:ext cx="15155748" cy="73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64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and food blogs </a:t>
            </a:r>
            <a:pPr algn="l" indent="0" marL="0">
              <a:lnSpc>
                <a:spcPct val="122164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conscious consumers follow food influencers and farm-to-fork content creators to discover restaurants, then cross-reference on Zomato to order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589" y="4929206"/>
            <a:ext cx="373311" cy="35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16207" y="4920859"/>
            <a:ext cx="15155748" cy="73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64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mouth </a:t>
            </a:r>
            <a:pPr algn="l" indent="0" marL="0">
              <a:lnSpc>
                <a:spcPct val="122164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recommendations from friends or community groups (WhatsApp, Reddit, housing society groups) for trusted farm-fresh or organic restaurants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589" y="5870102"/>
            <a:ext cx="373311" cy="35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16207" y="5861755"/>
            <a:ext cx="15155748" cy="73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64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ordering from farm brands </a:t>
            </a:r>
            <a:pPr algn="l" indent="0" marL="0">
              <a:lnSpc>
                <a:spcPct val="122164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Country Delight, Two Brothers Organic Farms, and similar D2C brands are capturing demand that could otherwise flow through Zomato, because they offer provenance that Zomato cannot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0589" y="6810999"/>
            <a:ext cx="373311" cy="35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16207" y="6802651"/>
            <a:ext cx="15155748" cy="73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64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websites and menus </a:t>
            </a:r>
            <a:pPr algn="l" indent="0" marL="0">
              <a:lnSpc>
                <a:spcPct val="122164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some farm-to-table restaurants publish sourcing information on their own websites; users visit these before placing orders on aggregators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SCENARIO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Farmers and Producers Solve It Today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589" y="2307504"/>
            <a:ext cx="17937365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have no direct consumer channel at all — they are entirely B2B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90589" y="3153320"/>
            <a:ext cx="5257750" cy="30076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14438" y="3534295"/>
            <a:ext cx="5071058" cy="40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28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FPO aggregators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14438" y="4071391"/>
            <a:ext cx="4748354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Ninjacart and Waycool connect farmers to restaurants and cloud kitchens in bulk, but the farmer remains invisible to the end consumer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14931" y="3153320"/>
            <a:ext cx="5257881" cy="30076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38780" y="3534295"/>
            <a:ext cx="5071201" cy="40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28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 subscription boxes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38780" y="4071391"/>
            <a:ext cx="4748489" cy="174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Brothers, Organic India, and Country Delight are the only model where farmers have direct consumer visibility — but this is a separate product category from restaurant ordering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039402" y="3153320"/>
            <a:ext cx="5257881" cy="30076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363251" y="3534295"/>
            <a:ext cx="5071201" cy="40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28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schemes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63251" y="4071391"/>
            <a:ext cx="4748489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e-NAM (National Agriculture Market) focuses on wholesale price discovery, not consumer-facing branding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SCENARIO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Available Solutions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589" y="2555184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discovery friction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90589" y="3020024"/>
            <a:ext cx="8123224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lack a centralized, reliable source of truth for identifying farm-to-table restaurants, forcing them to rely on fragmented, often outdated information from multiple off-platform channels before making a decision.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410528" y="2555184"/>
            <a:ext cx="8675431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trust and verification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0528" y="3020024"/>
            <a:ext cx="8123358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credible mechanism to validate restaurant claims (e.g. "farm fresh"), and relevant quality signals are buried in unstructured reviews — making it difficult for users to distinguish authentic offerings from marketing noise.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589" y="4691569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is not systematic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0589" y="5156409"/>
            <a:ext cx="8123224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discovery is driven by incomplete and biased channels (influencers, media, word-of-mouth), resulting in inconsistent and non-exhaustive coverage of relevant restaurant options.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10528" y="4691569"/>
            <a:ext cx="8675431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abandonment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410528" y="5156409"/>
            <a:ext cx="8123358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frequently leave the platform to verify information externally, creating drop-offs in the conversion funnel and leading to loss of both transactions and valuable behavioural data.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589" y="6486237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reinforcement loop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0589" y="6951077"/>
            <a:ext cx="8123224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fails to learn from or persist user preferences (e.g. interest in farm-to-table dining), resulting in repeated effort for users and no cumulative improvement in personalisation over time.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391678"/>
            <a:ext cx="17937365" cy="1131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90589" y="7789849"/>
            <a:ext cx="1714455" cy="380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0589" y="8094525"/>
            <a:ext cx="17937365" cy="872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Goals, Personas, and Stories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90589" y="9157761"/>
            <a:ext cx="17937365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and user objectives · Three personas · Prioritisation · User stories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589" y="2575531"/>
            <a:ext cx="373311" cy="35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16207" y="2517100"/>
            <a:ext cx="14596687" cy="452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239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Zomato relevant to globally emerging consumer trends shaped by the idea of Sustainability.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90589" y="3275660"/>
            <a:ext cx="373311" cy="35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16207" y="3217229"/>
            <a:ext cx="15352018" cy="867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239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health-conscious user segment </a:t>
            </a:r>
            <a:pPr algn="l" indent="0" marL="0">
              <a:lnSpc>
                <a:spcPct val="118239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acquire new users who currently bypass Zomato in favour of D2C farm brands or direct restaurant ordering, by offering them a discovery utility they cannot find elsewhere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0589" y="4390284"/>
            <a:ext cx="373311" cy="35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16207" y="4331853"/>
            <a:ext cx="15352018" cy="867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239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restaurant partner supply </a:t>
            </a:r>
            <a:pPr algn="l" indent="0" marL="0">
              <a:lnSpc>
                <a:spcPct val="118239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onboard farm-to-table and sustainably-sourced restaurants that are currently under-indexed on the platform or prefer dine-in over delivery due to lack of differentiation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90589" y="7674030"/>
            <a:ext cx="16306695" cy="1851012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564" y="8035964"/>
            <a:ext cx="17099219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 BUSINESS ADVANTAGE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564" y="8469762"/>
            <a:ext cx="15697135" cy="73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64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both simultaneously is what makes this a compelling platform play for Zomato — it creates a network effect where more farmer-linked restaurants attract more values-driven consumers, which in turn incentivises more restaurants to source locally.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Objectives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55184"/>
            <a:ext cx="8020052" cy="2593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38" y="2917118"/>
            <a:ext cx="8109589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with confidence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14438" y="3420042"/>
            <a:ext cx="7593525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want to identify restaurants and dishes that use locally sourced, seasonal, or sustainably grown ingredients — without leaving the platform or doing independent research to verify the claim.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77232" y="2555184"/>
            <a:ext cx="8020052" cy="2593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081" y="2917118"/>
            <a:ext cx="8109589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values-aligned choices effortlessly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081" y="3420042"/>
            <a:ext cx="7593525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want their health, ethical, and sustainability preferences to be understood and reflected back by the platform recommendations.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90589" y="5415436"/>
            <a:ext cx="8020052" cy="22519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14438" y="5777369"/>
            <a:ext cx="8109589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what they're paying a premium for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14438" y="6280293"/>
            <a:ext cx="7593525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who are willing to pay more for farm-fresh or locally sourced food want a credible signal — a verified badge, a producer name, a distance-to-farm indicator.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232" y="5415436"/>
            <a:ext cx="8020052" cy="22519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081" y="5777369"/>
            <a:ext cx="8109589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the impact of their choice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01081" y="6280293"/>
            <a:ext cx="7593525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want acknowledgement that their order made a difference — supporting a local farmer, reducing food miles, choosing seasonal produce.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17100"/>
            <a:ext cx="5257750" cy="41736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990589" y="2825428"/>
            <a:ext cx="578352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HEALTH-CONSCIOUS YOUTH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589" y="3316353"/>
            <a:ext cx="5783525" cy="472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Kapoor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90589" y="3940834"/>
            <a:ext cx="5415483" cy="1385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· UX Designer · Bengaluru Solo, weekday orderer Fitness-conscious · High frequency · Early adopter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589" y="5478301"/>
            <a:ext cx="5257750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9" name="Text 7"/>
          <p:cNvSpPr/>
          <p:nvPr/>
        </p:nvSpPr>
        <p:spPr>
          <a:xfrm>
            <a:off x="817234" y="5678245"/>
            <a:ext cx="5507305" cy="2295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locally sourced meals without leaving Zomato to research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sourcing claim without independently verifying it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health preferences remembered and surfaced automatically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14931" y="2517100"/>
            <a:ext cx="5257881" cy="41736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11" name="Text 9"/>
          <p:cNvSpPr/>
          <p:nvPr/>
        </p:nvSpPr>
        <p:spPr>
          <a:xfrm>
            <a:off x="6514931" y="2825428"/>
            <a:ext cx="5783669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4931" y="3316353"/>
            <a:ext cx="5783669" cy="472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Sharma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14931" y="3940834"/>
            <a:ext cx="5415617" cy="1385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· Housemaker · Mumbai Family, weekend orderer Parent of two · High trust threshold · Low experimentation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514931" y="5478301"/>
            <a:ext cx="5257881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15" name="Text 13"/>
          <p:cNvSpPr/>
          <p:nvPr/>
        </p:nvSpPr>
        <p:spPr>
          <a:xfrm>
            <a:off x="6341576" y="5678245"/>
            <a:ext cx="5507436" cy="2295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restaurants trusted to serve clean, traceable food to her children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premium order pricing with a credible sourcing signal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trusted restaurant shortlist without relying on word of mouth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039402" y="2517100"/>
            <a:ext cx="5257881" cy="41736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17" name="Text 15"/>
          <p:cNvSpPr/>
          <p:nvPr/>
        </p:nvSpPr>
        <p:spPr>
          <a:xfrm>
            <a:off x="12039402" y="2825428"/>
            <a:ext cx="5783669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 BUYERS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39402" y="3316353"/>
            <a:ext cx="5783669" cy="472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Roshni Nair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039402" y="3940834"/>
            <a:ext cx="5415617" cy="1385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· HR Business Partner · Gurugram Bulk, institutional buyer Approval-gated · Employer-brand driven · B2B context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039402" y="5478301"/>
            <a:ext cx="5257881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21" name="Text 19"/>
          <p:cNvSpPr/>
          <p:nvPr/>
        </p:nvSpPr>
        <p:spPr>
          <a:xfrm>
            <a:off x="11866047" y="5678245"/>
            <a:ext cx="5507436" cy="2295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farm-to-table catering that reflects the company's wellness values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manual effort of vetting sourcing credentials before each bulk order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reportable sustainability impact summary for HR dashboards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and Motivation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17100"/>
            <a:ext cx="5257750" cy="55512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76223" y="2840948"/>
            <a:ext cx="5155131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2868" y="3362915"/>
            <a:ext cx="4936038" cy="3756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Googles sourcing credentials before every order — adds 10–15 min friction to a 3-min decision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 to pay more for verified fresh and locally grown food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Trusts platform-verified signals over self-declared restaurant claims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restaurants via food Instagram — orders on Zomato but validates off-platform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14931" y="2517100"/>
            <a:ext cx="5257881" cy="55512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00565" y="2840948"/>
            <a:ext cx="5155274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27210" y="3362915"/>
            <a:ext cx="4936168" cy="4419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Rotates through a shortlist of 2–4 trusted restaurants; reluctant to try new ones without a strong recommendation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reviews specifically for mentions of freshness and hygiene — time-consuming and unreliable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Influenced heavily by peer parent recommendations in school and housing society groups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pays a premium for organic groceries — the willingness exists, the discovery tool does not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39402" y="2517100"/>
            <a:ext cx="5257881" cy="55512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25037" y="2840948"/>
            <a:ext cx="5155274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Roshni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151682" y="3362915"/>
            <a:ext cx="4936168" cy="4419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Farm-to-table is an employer-brand and wellness narrative — a strategic statement, not just a meal choice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restaurants directly to vet sourcing credentials before committing to large orders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an approved vendor list — new additions require internal justification and a trial order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metrics are increasingly required in HR reporting — impact data has direct internal utility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Their Words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589" y="2707522"/>
            <a:ext cx="5671763" cy="380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666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90589" y="3297963"/>
            <a:ext cx="5310833" cy="2038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86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try to eat clean but I spend more time researching where my food comes from than actually ordering it. Zomato just shows me ratings — it doesn't tell me anything about the food itself.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90589" y="5545602"/>
            <a:ext cx="5671763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 · 26 · Bengaluru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65797" y="2707522"/>
            <a:ext cx="5671763" cy="380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666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6565797" y="3297963"/>
            <a:ext cx="5310833" cy="163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86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mind spending more if I know it's actually good for my kids. But how do I know? The app tells me nothing about where the food actually comes from.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565797" y="5145584"/>
            <a:ext cx="5671763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· 38 · Mumbai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41005" y="2707522"/>
            <a:ext cx="5671763" cy="380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666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2141005" y="3297963"/>
            <a:ext cx="5310833" cy="2038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86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order for the team, it reflects on the company. I need to show that we care about what we feed our employees — not just that we ordered lunch.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141005" y="5545602"/>
            <a:ext cx="5671763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Roshni · 34 · Gurugram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Persona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93269"/>
            <a:ext cx="4952944" cy="3320657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1390607" y="3050413"/>
            <a:ext cx="4568199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90607" y="3522296"/>
            <a:ext cx="4277495" cy="1107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09"/>
              </a:lnSpc>
              <a:buNone/>
            </a:pPr>
            <a:r>
              <a:rPr lang="en-US" sz="3900" b="1" spc="-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Health-Conscious Youth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90607" y="4763434"/>
            <a:ext cx="4277495" cy="73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64"/>
              </a:lnSpc>
              <a:buNone/>
            </a:pPr>
            <a:r>
              <a:rPr lang="en-US" sz="19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Kapoor · 26 · UX Designer · Bengaluru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67399" y="2593269"/>
            <a:ext cx="11692873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RATIONALE FOR PRIORITISATION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67399" y="3160363"/>
            <a:ext cx="11692873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frequency, highest data yield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67399" y="3606160"/>
            <a:ext cx="11692873" cy="37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order frequency means faster feedback loops, richer behavioural data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667399" y="4209513"/>
            <a:ext cx="11692873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friction to convert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67399" y="4655311"/>
            <a:ext cx="11692873" cy="37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significantly easier conversion than the other two personas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667399" y="5258663"/>
            <a:ext cx="11692873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AOV growth signal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67399" y="5704461"/>
            <a:ext cx="11692873" cy="37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for him directly tests and validates the premium pricing hypothesis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667399" y="6307813"/>
            <a:ext cx="11692873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and most accessible segment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67399" y="6753611"/>
            <a:ext cx="11692873" cy="37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for Arjun captures the widest slice of the target market in the first release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67399" y="7356964"/>
            <a:ext cx="11692873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adopter amplifier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67399" y="7802761"/>
            <a:ext cx="11692873" cy="37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the acquisition funnel for the other two segments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17100"/>
            <a:ext cx="5283183" cy="29064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57180" y="2802734"/>
            <a:ext cx="5225000" cy="34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Farm-to-table filter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57180" y="3244879"/>
            <a:ext cx="4892500" cy="1931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Arjun opens Zomato and wants to order a locally sourced meal, when he applies the farm-to-table filter on the restaurant search screen, then he sees only restaurants with at least one platform-verified sourced dish, updated in under 1 second.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02279" y="2517100"/>
            <a:ext cx="5283183" cy="29064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68871" y="2802734"/>
            <a:ext cx="5225000" cy="34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badge on listing card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768871" y="3244879"/>
            <a:ext cx="4892500" cy="1615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Arjun is browsing the restaurant listing page, when a restaurant has one or more verified farm-to-table dishes on its menu, then a sourcing badge is displayed on its listing card, visible without opening the restaurant.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13970" y="2517100"/>
            <a:ext cx="5283183" cy="29064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280561" y="2802734"/>
            <a:ext cx="5225000" cy="34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farm-fresh collection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280561" y="3244879"/>
            <a:ext cx="4892500" cy="1931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Arjun opens the Zomato homepage on a weekday, when he has previously ordered from or browsed farm-tagged restaurants, then a personalised "Farm Fresh" collection is surfaced on his homepage as a direct entry point.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589" y="5652029"/>
            <a:ext cx="5283183" cy="29064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180" y="5937663"/>
            <a:ext cx="5225000" cy="34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profile card on dish detail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57180" y="6379809"/>
            <a:ext cx="4892500" cy="1615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Arjun taps on a farm-tagged dish to view its detail page, when the dish has a linked producer profile, then he sees the farmer's name, farm location, distance from the city, and produce type within the dish detail view.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2279" y="5652029"/>
            <a:ext cx="5283183" cy="29064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8871" y="5937663"/>
            <a:ext cx="5225000" cy="34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Platform-verified sourcing signal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68871" y="6379809"/>
            <a:ext cx="4892500" cy="1615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Arjun sees a sourcing label on a dish or restaurant, when he wants to assess the credibility of the claim, then the label displays a "Verified by Zomato" indicator distinguishing it from self-declared restaurant descriptions.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13970" y="5652029"/>
            <a:ext cx="5283183" cy="29064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0561" y="5937663"/>
            <a:ext cx="5225000" cy="34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recommendations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280561" y="6379809"/>
            <a:ext cx="4892500" cy="1931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Arjun has a history of ordering from and rating farm-tagged dishes, when he opens his Zomato home or discovery feed, then the platform surfaces personalised farm-fresh dish and restaurant recommendations ranked by his past sourcing preferences and ratings.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391678"/>
            <a:ext cx="17937365" cy="1131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90589" y="7789849"/>
            <a:ext cx="1714455" cy="380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0589" y="8094525"/>
            <a:ext cx="17937365" cy="872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90589" y="9157761"/>
            <a:ext cx="17937365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user flow · Four solution pillars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85782"/>
            <a:ext cx="17937365" cy="614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User Flow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90589" y="137599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PLACEMENT ON ZOMATO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5678" r="-15678" t="0" b="0"/>
          <a:stretch/>
        </p:blipFill>
        <p:spPr>
          <a:xfrm>
            <a:off x="990589" y="1943093"/>
            <a:ext cx="16306695" cy="77344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Building Blocks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17100"/>
            <a:ext cx="5257750" cy="3390435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5" name="Text 3"/>
          <p:cNvSpPr/>
          <p:nvPr/>
        </p:nvSpPr>
        <p:spPr>
          <a:xfrm>
            <a:off x="1295265" y="2859991"/>
            <a:ext cx="5113238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265" y="3312831"/>
            <a:ext cx="5113238" cy="428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39"/>
              </a:lnSpc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Fresh Discovery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265" y="3856057"/>
            <a:ext cx="4787850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farm-to-table restaurant discovery entirely inside Zomato — replacing Google and Instagram as the user's sourcing research channel.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14931" y="2517100"/>
            <a:ext cx="5257881" cy="3390435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9" name="Text 7"/>
          <p:cNvSpPr/>
          <p:nvPr/>
        </p:nvSpPr>
        <p:spPr>
          <a:xfrm>
            <a:off x="6819607" y="2859991"/>
            <a:ext cx="5113381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19607" y="3312831"/>
            <a:ext cx="5113381" cy="428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39"/>
              </a:lnSpc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Sourcing Signal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19607" y="3856057"/>
            <a:ext cx="4787984" cy="174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unverifiable "farm fresh" marketing copy with a platform-controlled verification layer — named producer, real distance, and a Zomato-audited badge.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39402" y="2517100"/>
            <a:ext cx="5257881" cy="3390435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079" y="2859991"/>
            <a:ext cx="5113381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079" y="3312831"/>
            <a:ext cx="5113381" cy="428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39"/>
              </a:lnSpc>
              <a:buNone/>
            </a:pPr>
            <a:r>
              <a:rPr lang="en-US" sz="2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 Flywheel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344079" y="3856057"/>
            <a:ext cx="4787984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Zomato progressively smarter about each user's sourcing preferences — so the research effort required reduces with every order, not resets.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0589" y="6174127"/>
            <a:ext cx="16306695" cy="156759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564" y="6555102"/>
            <a:ext cx="4819557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564" y="6969858"/>
            <a:ext cx="4819557" cy="428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39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Trust Infrastructure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172040" y="6616142"/>
            <a:ext cx="11066597" cy="721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operational and data foundation that makes every consumer-facing feature credible — producer registry, verification workflow, anti-gaming rules, and a two-tier badge system.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391678"/>
            <a:ext cx="17937365" cy="1131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90589" y="7789849"/>
            <a:ext cx="1714455" cy="380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0589" y="8094525"/>
            <a:ext cx="17937365" cy="872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90589" y="9157761"/>
            <a:ext cx="17937365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· Technical · Design · Non-functional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REQUIREMENTS · 1 OF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and Restaurant Page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990589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and location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30569" y="3172362"/>
            <a:ext cx="5468667" cy="4912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user denies location access — permission prompt remains on home page; no restaurant listings are shown; Farm Fresh rail and filter chip are not rendered.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user grants location access — home page loads with local restaurants, Farm Fresh rail, and Farm Fresh filter chip all rendered in the same page load.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sub-paths available: user searches for a food item or restaurant, or user scrolls through standard recommendations.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both sub-paths, Farm Verified restaurants display a "Farm Verified" badge on their listing card — a sourcing signal without requiring the filter to be active.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27713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8" name="Text 6"/>
          <p:cNvSpPr/>
          <p:nvPr/>
        </p:nvSpPr>
        <p:spPr>
          <a:xfrm>
            <a:off x="6527713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header and menu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367693" y="3172362"/>
            <a:ext cx="5468667" cy="537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header displays "Farm Verified ✓" badge alongside existing trust signals (e.g. "Frequently reordered") — badge is tappable and opens the Farm Verified bottom sheet.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shown only when restaurant has at least one dish with verification_status = verified.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removed automatically within 15 minutes if the restaurant's last verified dish lapses or is revoked.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"Farm Fresh" filter chip is available in the dish filter row — tapping it floats farm-tagged dishes to the top of the menu.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dish-level Farm Fresh label is displayed on dish cards — sourcing signal is carried at restaurant level only.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64836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12064836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 detail and farmer card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904816" y="3172362"/>
            <a:ext cx="5468667" cy="4281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 detail expands inline — farmer profile card renders below the dish description showing farm name, village and district, computed distance from the user's delivery address, produce types, and a "Verified by Zomato" link.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dish is linked to multiple producers, all are shown as scrollable cards — one per producer.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computed server-side using the user's saved default delivery address; district-level proximity used as fallback if no saved address.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producer API is slow, dish detail renders without the farmer card — page does not block.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REQUIREMENTS · 2 OF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Checkout, and Address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990589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impact card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30569" y="3172362"/>
            <a:ext cx="5468667" cy="522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displays a "You're ordering from a Farm Verified restaurant" impact card on the cart page whenever the restaurant holds an active Farm Verified status — regardless of which specific dishes are in the cart.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line names the producer(s) linked to the restaurant and their distance: "[Producer Name] · X km from your location".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card suppressed if Farm Verified status has lapsed or been revoked — consistent with the 15-minute cache invalidation applied to all other surfaces.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dish-level label or badge displayed on cart item rows — all rows are visually identical regardless of sourcing status.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27713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8" name="Text 6"/>
          <p:cNvSpPr/>
          <p:nvPr/>
        </p:nvSpPr>
        <p:spPr>
          <a:xfrm>
            <a:off x="6527713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and login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367693" y="3172362"/>
            <a:ext cx="5468667" cy="4748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logged in, system proceeds directly to address availability check — no login step shown.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Verified impact card remains visible on the checkout screen — impact message persists through the checkout flow.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 logged in, system redirects to login — collects login details and completes verification (OTP or password).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state must be preserved through the login flow — items added before login must not be lost after authentication.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successful login, system proceeds to address availability check.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64836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12064836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and distance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904816" y="3172362"/>
            <a:ext cx="5468667" cy="601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address is available, system proceeds to payment — pre-fills saved address on the checkout summary.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profile card distance recomputes reactively if the user switches delivery address mid-session — distance label updates on next farmer card view.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recomputed distance exceeds 150 km, the label switches to "Sourced locally in [District Name]" — no specific km figure shown, to prevent a misleading number.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address, system prompts the user to enter and save one, then loops back to payment — cart state preserved throughout.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address is used to recompute farmer card distance for all farm-tagged dishes in the current session.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REQUIREMENTS · 3 OF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Post-Order and Personalisation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990589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and tracking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30569" y="3172362"/>
            <a:ext cx="5468667" cy="2398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placed successfully — system records which dishes were farm-tagged and which restaurant was Farm Verified at the time of order.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sourcing summary card rendered on the order tracking screen: "You're ordering from a Farm Verified restaurant · [Producer Name] · X km from your location".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27713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8" name="Text 6"/>
          <p:cNvSpPr/>
          <p:nvPr/>
        </p:nvSpPr>
        <p:spPr>
          <a:xfrm>
            <a:off x="6527713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rating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367693" y="3172362"/>
            <a:ext cx="5468667" cy="4912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Post-delivery rating prompt includes an optional "Rate freshness" dimension — framed as "How fresh did the ingredients taste?" with a 1–5 leaf-scale and optional structured tags.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is suppressed for failed, cancelled, or refunded orders — only shown after a successfully delivered order from a Farm Verified restaurant.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stored against the restaurant's producer record — contributing to the producer's aggregate freshness score.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freshness score computed using a trimmed mean — top and bottom 10% of ratings removed per rolling 30-day window to reduce outlier influence.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64836" y="2975940"/>
            <a:ext cx="5232447" cy="2504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12064836" y="2517100"/>
            <a:ext cx="5389421" cy="36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904816" y="3172362"/>
            <a:ext cx="5468667" cy="4912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computes farm_preference_score nightly: farm-tagged orders (weight 0.5) + browse events (weight 0.3) + freshness ratings (weight 0.2).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with score above threshold receive a personalised Farm Fresh rail on the homepage — ranked by individual preference affinity rather than city-level popularity.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rail copy shifts to "Based on your past orders" — restaurants previously ordered from are deprioritised to surface new discovery options.</a:t>
            </a:r>
            <a:endParaRPr lang="en-US" sz="1800" dirty="0"/>
          </a:p>
          <a:p>
            <a:pPr algn="l" indent="0" marL="0">
              <a:lnSpc>
                <a:spcPct val="118103"/>
              </a:lnSpc>
              <a:buNone/>
            </a:pPr>
            <a:r>
              <a:rPr lang="en-US" sz="18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toggle farm preference on or off from profile settings — toggling off halts score computation entirely, not just hides the rail (DPDPA 2023 compliant).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and Design Requirements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17100"/>
            <a:ext cx="8020052" cy="5542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38" y="2859991"/>
            <a:ext cx="8109589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1083" y="3369958"/>
            <a:ext cx="7621909" cy="438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extension with farm_to_table parameter; indexed verification data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Server-driven badge logic; cache invalidation (~15 min)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Batch-processed cached collections; preference-based API exposure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entity model; dish-producer linkage; distance computation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workflow; write-protected verification; expiry + re-audit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scoring model; recommendation integration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 for large datasets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77232" y="2517100"/>
            <a:ext cx="8020052" cy="5542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081" y="2859991"/>
            <a:ext cx="8109589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27726" y="3369958"/>
            <a:ext cx="7621909" cy="3389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filter chip with intuitive UI; graceful empty states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Prominent badge; consistent visual identity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carousel; optimised info density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Dish-level labels; farmer profile cards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badge with explainer; credibility hierarchy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UI; user toggle control</a:t>
            </a:r>
            <a:endParaRPr lang="en-US" sz="1950" dirty="0"/>
          </a:p>
          <a:p>
            <a:pPr algn="l" indent="0" marL="0">
              <a:lnSpc>
                <a:spcPct val="11692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UI (WCAG compliant)</a:t>
            </a:r>
            <a:endParaRPr lang="en-US" sz="1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589" y="2593269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90589" y="3058108"/>
            <a:ext cx="8123224" cy="721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supports 50K producers and 500K tagged dishes without architectural changes in Phase 1–3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410528" y="2593269"/>
            <a:ext cx="8675431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0528" y="3058108"/>
            <a:ext cx="8123358" cy="14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AA — all Farm Fresh UI elements include aria-labels; colour never the sole differentiator. iOS VoiceOver and Android TalkBack compatibility required for the bottom sheet and all new interactive components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589" y="4748826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0589" y="5213666"/>
            <a:ext cx="8123224" cy="721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data service target uptime 99.9%; all surfaces degrade gracefully on failure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10528" y="4748826"/>
            <a:ext cx="8675431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410528" y="5213666"/>
            <a:ext cx="8123358" cy="721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verification_status write-protected; farm location data returned at district level only to consumers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589" y="6220949"/>
            <a:ext cx="8675288" cy="388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0589" y="6685789"/>
            <a:ext cx="8123224" cy="721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DPDPA 2023 compliant; preference toggle = full data processing opt-out, not a UI preference only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391678"/>
            <a:ext cx="17937365" cy="1131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90589" y="7789849"/>
            <a:ext cx="1714455" cy="380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0589" y="8094525"/>
            <a:ext cx="17937365" cy="872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90589" y="9157761"/>
            <a:ext cx="17937365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· Restaurant · Cart · Order tracking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09483"/>
            <a:ext cx="17937365" cy="614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and Discovery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90589" y="129969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 FRESH FILTER CHIP · FARM FRESH RAIL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-3"/>
          <a:stretch/>
        </p:blipFill>
        <p:spPr>
          <a:xfrm>
            <a:off x="990589" y="1943093"/>
            <a:ext cx="3686112" cy="781058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38652" y="1943093"/>
            <a:ext cx="3642419" cy="78105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43021" y="2019262"/>
            <a:ext cx="6705457" cy="363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Fresh rail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9843021" y="2440018"/>
            <a:ext cx="6278746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"Farm Fresh — sourced locally" rail renders on the same page load as local restaurants, with Farm Verified badges on each card.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843021" y="3789018"/>
            <a:ext cx="6705457" cy="363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chip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9843021" y="4209774"/>
            <a:ext cx="6278746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Fresh sits in the existing filter row beside Near &amp; Fast — active state floats verified restaurants into the recommendations feed.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843021" y="5558775"/>
            <a:ext cx="6705457" cy="363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in the feed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9843021" y="5979530"/>
            <a:ext cx="6278746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Recommended-for-you cards carry the badge inline, so the sourcing signal is visible without the filter being active.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09483"/>
            <a:ext cx="17937365" cy="614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Page and Cart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90589" y="129969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BADGE · IMPACT CARD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-1"/>
          <a:stretch/>
        </p:blipFill>
        <p:spPr>
          <a:xfrm>
            <a:off x="990589" y="1943093"/>
            <a:ext cx="3632115" cy="781058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-1"/>
          <a:stretch/>
        </p:blipFill>
        <p:spPr>
          <a:xfrm>
            <a:off x="5384655" y="1943093"/>
            <a:ext cx="3667722" cy="78105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14328" y="2019262"/>
            <a:ext cx="6705457" cy="363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badge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9814328" y="2440018"/>
            <a:ext cx="6278746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"Farm Verified ✓" sits alongside existing trust signals such as "Frequently reordered", and is tappable to open the verification bottom sheet.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814328" y="3789018"/>
            <a:ext cx="6705457" cy="363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card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9814328" y="4209774"/>
            <a:ext cx="6278746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"You're supporting 1 local farm with this order" names the producer and the distance — Ramu Farms · 18 km from your location.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814328" y="5558775"/>
            <a:ext cx="6705457" cy="363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 cart rows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9814328" y="5979530"/>
            <a:ext cx="6278746" cy="721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rows stay visually identical regardless of sourcing status; the signal is carried once, at restaurant level.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09483"/>
            <a:ext cx="17937365" cy="614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90589" y="129969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 SOURCING SUMMARY CARD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589" y="1943093"/>
            <a:ext cx="3790975" cy="7810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43515" y="2019262"/>
            <a:ext cx="9429648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summary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5543515" y="2481754"/>
            <a:ext cx="8829580" cy="721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"Key ingredients in your Delux Thali sourced from Ramu Farms" — Khatoli Village, Meerut · 18 km from your location, with a share action.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543515" y="3508080"/>
            <a:ext cx="9429648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rating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5543515" y="3970572"/>
            <a:ext cx="8829580" cy="1063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successful delivery, the rating prompt adds "How fresh did the ingredients taste?" on a 1–5 leaf scale, feeding the producer's freshness score.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5543515" y="5338615"/>
            <a:ext cx="8572408" cy="149651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886406" y="5662464"/>
            <a:ext cx="8675288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PROTOTYPE</a:t>
            </a:r>
            <a:endParaRPr lang="en-US" sz="1800" dirty="0"/>
          </a:p>
        </p:txBody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5886406" y="6077220"/>
            <a:ext cx="8675288" cy="472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Farm-to-Fresh by Zomato ↗</a:t>
            </a:r>
            <a:endParaRPr lang="en-US" sz="2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6391678"/>
            <a:ext cx="17937365" cy="1131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90589" y="7789849"/>
            <a:ext cx="1714455" cy="380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0589" y="8094525"/>
            <a:ext cx="17937365" cy="872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Verification, Edge Cases, Metrics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90589" y="9157761"/>
            <a:ext cx="17937365" cy="40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for Farm-Fresh Verified status · Edge cases · Success metrics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 · TIER 1 — DECLARATION REQUIREMENTS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Restaurant Must Declare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17100"/>
            <a:ext cx="16306695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5" name="Shape 3"/>
          <p:cNvSpPr/>
          <p:nvPr/>
        </p:nvSpPr>
        <p:spPr>
          <a:xfrm>
            <a:off x="990589" y="3703980"/>
            <a:ext cx="3238488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6" name="Text 4"/>
          <p:cNvSpPr/>
          <p:nvPr/>
        </p:nvSpPr>
        <p:spPr>
          <a:xfrm>
            <a:off x="990589" y="2773097"/>
            <a:ext cx="3335643" cy="72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identity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229077" y="3703980"/>
            <a:ext cx="13068207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8" name="Text 6"/>
          <p:cNvSpPr/>
          <p:nvPr/>
        </p:nvSpPr>
        <p:spPr>
          <a:xfrm>
            <a:off x="4648177" y="2773097"/>
            <a:ext cx="13041153" cy="72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legal name and registration number of the producer or FPO. Must be a registered entity — FPO, Kisan Credit Card holder, or APMC-registered trader. Unregistered intermediaries not accepted.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90589" y="5232578"/>
            <a:ext cx="3238488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10" name="Text 8"/>
          <p:cNvSpPr/>
          <p:nvPr/>
        </p:nvSpPr>
        <p:spPr>
          <a:xfrm>
            <a:off x="990589" y="3959977"/>
            <a:ext cx="3335643" cy="1063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 scope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4229077" y="5232578"/>
            <a:ext cx="13068207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177" y="3959977"/>
            <a:ext cx="13041153" cy="1063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ingredient(s) declared, not the whole dish. Declared ingredient must appear in the dish name or contribute more than 30% of the dish's raw ingredient weight. Garnishes, condiments, and finishing herbs explicitly excluded.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90589" y="6419459"/>
            <a:ext cx="3238488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14" name="Text 12"/>
          <p:cNvSpPr/>
          <p:nvPr/>
        </p:nvSpPr>
        <p:spPr>
          <a:xfrm>
            <a:off x="990589" y="5488575"/>
            <a:ext cx="3335643" cy="72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229077" y="6419459"/>
            <a:ext cx="13068207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16" name="Text 14"/>
          <p:cNvSpPr/>
          <p:nvPr/>
        </p:nvSpPr>
        <p:spPr>
          <a:xfrm>
            <a:off x="4648177" y="5488575"/>
            <a:ext cx="13041153" cy="72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must be within 150 km straight-line distance of the restaurant's registered address. Supply chain must be direct — maximum one intermediary between farm and restaurant.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589" y="7606339"/>
            <a:ext cx="3238488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18" name="Text 16"/>
          <p:cNvSpPr/>
          <p:nvPr/>
        </p:nvSpPr>
        <p:spPr>
          <a:xfrm>
            <a:off x="990589" y="6675456"/>
            <a:ext cx="3335643" cy="72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frequency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4229077" y="7606339"/>
            <a:ext cx="13068207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20" name="Text 18"/>
          <p:cNvSpPr/>
          <p:nvPr/>
        </p:nvSpPr>
        <p:spPr>
          <a:xfrm>
            <a:off x="4648177" y="6675456"/>
            <a:ext cx="13041153" cy="72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weekly or more frequent supply. Seasonal or one-time sourcing does not qualify. Three consecutive purchase invoices from the declared producer within the last 90 days required.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90589" y="8793220"/>
            <a:ext cx="3238488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22" name="Text 20"/>
          <p:cNvSpPr/>
          <p:nvPr/>
        </p:nvSpPr>
        <p:spPr>
          <a:xfrm>
            <a:off x="990589" y="7862336"/>
            <a:ext cx="3335643" cy="72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eligibility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4229077" y="8793220"/>
            <a:ext cx="13068207" cy="9525"/>
          </a:xfrm>
          <a:prstGeom prst="rect">
            <a:avLst/>
          </a:prstGeom>
          <a:solidFill>
            <a:srgbClr val="E4E4E6"/>
          </a:solidFill>
          <a:ln/>
        </p:spPr>
      </p:sp>
      <p:sp>
        <p:nvSpPr>
          <p:cNvPr id="24" name="Text 22"/>
          <p:cNvSpPr/>
          <p:nvPr/>
        </p:nvSpPr>
        <p:spPr>
          <a:xfrm>
            <a:off x="4648177" y="7862336"/>
            <a:ext cx="13041153" cy="72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18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Eligible: fresh vegetables, fruits, dairy, pulses, grains, herbs, eggs. Processed or packaged goods explicitly excluded — no packaged spice mixes, bottled sauces, or manufactured ingredients.</a:t>
            </a:r>
            <a:endParaRPr lang="en-US" sz="1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 · TIER 2 — AUDIT CHECKS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Zomato Verifies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2593269"/>
            <a:ext cx="5257750" cy="4288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38" y="2974244"/>
            <a:ext cx="5071058" cy="413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83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verification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1083" y="3540295"/>
            <a:ext cx="4859608" cy="299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GSTIN must be live on the GST portal</a:t>
            </a:r>
            <a:endParaRPr lang="en-US" sz="1950" dirty="0"/>
          </a:p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amounts must appear in the restaurant's own GST input credit filings for that period</a:t>
            </a:r>
            <a:endParaRPr lang="en-US" sz="1950" dirty="0"/>
          </a:p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Producer's GSTIN must appear directly on restaurant purchase invoices — not an intermediary's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14931" y="2593269"/>
            <a:ext cx="5257881" cy="4288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38780" y="2974244"/>
            <a:ext cx="5071201" cy="413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83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verification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65425" y="3540295"/>
            <a:ext cx="4859738" cy="172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photo or video of fresh produce received from the declared producer — showing the delivery challan or producer packaging label alongside the produce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39402" y="2593269"/>
            <a:ext cx="5257881" cy="4288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63251" y="2974244"/>
            <a:ext cx="5071201" cy="413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83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cadence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189896" y="3540295"/>
            <a:ext cx="4859738" cy="2191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submitted on a rolling 90-day basis throughout a 6-month badge cycle — at months 1, 3, and 5</a:t>
            </a:r>
            <a:endParaRPr lang="en-US" sz="1950" dirty="0"/>
          </a:p>
          <a:p>
            <a:pPr algn="l" indent="0" marL="0">
              <a:lnSpc>
                <a:spcPct val="118673"/>
              </a:lnSpc>
              <a:buNone/>
            </a:pPr>
            <a:r>
              <a:rPr lang="en-US" sz="195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displays the "last verified" date on the consumer-facing verification bottom sheet</a:t>
            </a:r>
            <a:endParaRPr lang="en-US" sz="1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CASES · CONSUMER-FACING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Trust Can Break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589" y="2593269"/>
            <a:ext cx="533475" cy="538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2540" y="2668394"/>
            <a:ext cx="15108595" cy="1299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977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orders a farm-tagged dish but the restaurant substitutes the sourced ingredient on a specific day due to stock shortage — the consumer receives a non-farm-sourced version of a dish they believed was farm-sourced, with no disclosure.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90589" y="4254119"/>
            <a:ext cx="533475" cy="538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52540" y="4329244"/>
            <a:ext cx="15108595" cy="87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977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gives a low freshness rating not because the sourcing was compromised but because the dish was prepared poorly — the rating unfairly penalises the producer's freshness score.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0589" y="5494344"/>
            <a:ext cx="533475" cy="538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52540" y="5569469"/>
            <a:ext cx="15108595" cy="87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977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farmer profile card shows a distance of "18 km from your location" but the user changes their delivery address mid-session to a different city — the distance becomes stale and misleading.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89" y="914289"/>
            <a:ext cx="17937365" cy="33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89" y="1405214"/>
            <a:ext cx="1793736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It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89" y="3103236"/>
            <a:ext cx="7886626" cy="1669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589" y="2631353"/>
            <a:ext cx="8123224" cy="338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 SIDE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29" y="3348438"/>
            <a:ext cx="8176186" cy="2299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 orders containing at least one Farm-Verified dish</a:t>
            </a:r>
            <a:endParaRPr lang="en-US" sz="2400" dirty="0"/>
          </a:p>
          <a:p>
            <a:pPr algn="l" indent="0" marL="0">
              <a:lnSpc>
                <a:spcPct val="1165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Cart-to-order conversion rate on farm-tagged carts</a:t>
            </a:r>
            <a:endParaRPr lang="en-US" sz="2400" dirty="0"/>
          </a:p>
          <a:p>
            <a:pPr algn="l" indent="0" marL="0">
              <a:lnSpc>
                <a:spcPct val="1165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Fresh filter usage rate</a:t>
            </a:r>
            <a:endParaRPr lang="en-US" sz="2400" dirty="0"/>
          </a:p>
          <a:p>
            <a:pPr algn="l" indent="0" marL="0">
              <a:lnSpc>
                <a:spcPct val="1165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for orders with ≥ 1 Farm-Verified dish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10528" y="3103236"/>
            <a:ext cx="7886756" cy="1669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10528" y="2631353"/>
            <a:ext cx="8123358" cy="338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SIDE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97168" y="3348438"/>
            <a:ext cx="8176316" cy="168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sourcing declaration rate</a:t>
            </a:r>
            <a:endParaRPr lang="en-US" sz="2400" dirty="0"/>
          </a:p>
          <a:p>
            <a:pPr algn="l" indent="0" marL="0">
              <a:lnSpc>
                <a:spcPct val="1165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approval rate</a:t>
            </a:r>
            <a:endParaRPr lang="en-US" sz="2400" dirty="0"/>
          </a:p>
          <a:p>
            <a:pPr algn="l" indent="0" marL="0">
              <a:lnSpc>
                <a:spcPct val="1165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dish count per restaurant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2026-08-15T18:04:45Z</dcterms:created>
  <dcterms:modified xsi:type="dcterms:W3CDTF">2026-08-15T18:04:45Z</dcterms:modified>
</cp:coreProperties>
</file>