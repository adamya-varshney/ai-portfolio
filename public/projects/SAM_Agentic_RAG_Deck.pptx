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A39B"/>
    <a:srgbClr val="8ECA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4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7565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0"/>
            <a:ext cx="640080" cy="54864"/>
          </a:xfrm>
          <a:prstGeom prst="rect">
            <a:avLst/>
          </a:prstGeom>
          <a:solidFill>
            <a:schemeClr val="accent2"/>
          </a:solidFill>
          <a:ln w="12700">
            <a:noFill/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SAM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663440" y="1828800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1D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 Agentic RAG Chatbot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663440" y="251460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630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on LangGraph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663440" y="338328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47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 learning-ground-turned-product: conversational memory, grounded document Q&amp;A, and live web search — orchestrated as one agent.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663440" y="5029200"/>
            <a:ext cx="1161288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9525">
            <a:noFill/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5029200"/>
            <a:ext cx="1161288" cy="38404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LangGraph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5961888" y="5029200"/>
            <a:ext cx="1161288" cy="384048"/>
          </a:xfrm>
          <a:prstGeom prst="roundRect">
            <a:avLst>
              <a:gd name="adj" fmla="val 50000"/>
            </a:avLst>
          </a:prstGeom>
          <a:solidFill>
            <a:srgbClr val="8ECAE6"/>
          </a:solidFill>
          <a:ln w="9525">
            <a:noFill/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61888" y="5029200"/>
            <a:ext cx="1161288" cy="38404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D3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LangChain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60336" y="5029200"/>
            <a:ext cx="1362456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9525">
            <a:noFill/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0336" y="5029200"/>
            <a:ext cx="1362456" cy="38404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GPT-4o-mini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759952" y="5029200"/>
            <a:ext cx="758952" cy="384048"/>
          </a:xfrm>
          <a:prstGeom prst="roundRect">
            <a:avLst>
              <a:gd name="adj" fmla="val 50000"/>
            </a:avLst>
          </a:prstGeom>
          <a:solidFill>
            <a:srgbClr val="8ECAE6"/>
          </a:solidFill>
          <a:ln w="9525">
            <a:noFill/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59952" y="5029200"/>
            <a:ext cx="758952" cy="38404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D3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FAISS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642856" y="5029200"/>
            <a:ext cx="1161288" cy="384048"/>
          </a:xfrm>
          <a:prstGeom prst="roundRect">
            <a:avLst>
              <a:gd name="adj" fmla="val 50000"/>
            </a:avLst>
          </a:prstGeom>
          <a:solidFill>
            <a:srgbClr val="2FA39B"/>
          </a:solidFill>
          <a:ln w="9525">
            <a:noFill/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56064" y="5029200"/>
            <a:ext cx="1161288" cy="38404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Streamlit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chemeClr val="accent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01 · WHY THIS EXISTS</a:t>
            </a:r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D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agent, three capabilities users won't split apart.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09728" cy="960120"/>
          </a:xfrm>
          <a:prstGeom prst="rect">
            <a:avLst/>
          </a:prstGeom>
          <a:solidFill>
            <a:srgbClr val="3B6EA8"/>
          </a:solidFill>
          <a:ln w="12700">
            <a:solidFill>
              <a:srgbClr val="3B6E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D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Conversational continuity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Users expect follow-ups to remember earlier turns — not restart context on every message.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109728" cy="960120"/>
          </a:xfrm>
          <a:prstGeom prst="rect">
            <a:avLst/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200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D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Grounded document Q&amp;A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3657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Answers about an uploaded PDF must cite the PDF, not the model's parametric memory.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480560"/>
            <a:ext cx="109728" cy="960120"/>
          </a:xfrm>
          <a:prstGeom prst="rect">
            <a:avLst/>
          </a:prstGeom>
          <a:solidFill>
            <a:srgbClr val="2FA39B"/>
          </a:solidFill>
          <a:ln w="12700">
            <a:solidFill>
              <a:srgbClr val="2FA39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480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D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web knowledge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" y="4937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For anything time-sensitive, the agent must reach outside its training cutoff — on demand, not always.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6304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So what: without a single orchestrator that picks the right tool per turn, users end up juggling three interfaces — and hallucinations fill the gaps.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D9D3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SAM · Agentic RAG on LangGraph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817352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chemeClr val="accent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02 · SYSTEM AT A GLANCE</a:t>
            </a:r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D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Request lifecycle, end to end.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0" y="54864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9AA3AF"/>
          </a:solidFill>
          <a:ln w="12700">
            <a:solidFill>
              <a:srgbClr val="9AA3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0" y="5303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Frontend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903720" y="54864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3B6EA8"/>
          </a:solidFill>
          <a:ln w="12700">
            <a:solidFill>
              <a:srgbClr val="3B6E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78040" y="5303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Orchestration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138160" y="54864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0" y="5303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LLM / Agent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372600" y="54864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A39B"/>
          </a:solidFill>
          <a:ln w="12700">
            <a:solidFill>
              <a:srgbClr val="2FA39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46920" y="5303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Tool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607040" y="54864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81360" y="5303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Data / RAG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291840"/>
            <a:ext cx="1280160" cy="1005840"/>
          </a:xfrm>
          <a:prstGeom prst="roundRect">
            <a:avLst>
              <a:gd name="adj" fmla="val 10909"/>
            </a:avLst>
          </a:prstGeom>
          <a:solidFill>
            <a:srgbClr val="16304F"/>
          </a:solidFill>
          <a:ln w="12700">
            <a:solidFill>
              <a:srgbClr val="1630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291840"/>
            <a:ext cx="128016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chat input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86000" y="3291840"/>
            <a:ext cx="1737360" cy="1005840"/>
          </a:xfrm>
          <a:prstGeom prst="roundRect">
            <a:avLst>
              <a:gd name="adj" fmla="val 10909"/>
            </a:avLst>
          </a:prstGeom>
          <a:solidFill>
            <a:srgbClr val="9AA3AF"/>
          </a:solidFill>
          <a:ln w="12700">
            <a:solidFill>
              <a:srgbClr val="9AA3A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0" y="3291840"/>
            <a:ext cx="173736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Streamlit UI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chat + PDF upload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3291840"/>
            <a:ext cx="1737360" cy="1005840"/>
          </a:xfrm>
          <a:prstGeom prst="roundRect">
            <a:avLst>
              <a:gd name="adj" fmla="val 10909"/>
            </a:avLst>
          </a:prstGeom>
          <a:solidFill>
            <a:srgbClr val="3B6EA8"/>
          </a:solidFill>
          <a:ln w="12700">
            <a:solidFill>
              <a:srgbClr val="3B6E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3291840"/>
            <a:ext cx="173736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LangGraph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agent graph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040880" y="3291840"/>
            <a:ext cx="1920240" cy="1005840"/>
          </a:xfrm>
          <a:prstGeom prst="roundRect">
            <a:avLst>
              <a:gd name="adj" fmla="val 10909"/>
            </a:avLst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3291840"/>
            <a:ext cx="19202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 node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gpt-4o-mini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509760" y="3127247"/>
            <a:ext cx="2377440" cy="822960"/>
          </a:xfrm>
          <a:prstGeom prst="roundRect">
            <a:avLst>
              <a:gd name="adj" fmla="val 13333"/>
            </a:avLst>
          </a:prstGeom>
          <a:solidFill>
            <a:srgbClr val="2FA39B"/>
          </a:solidFill>
          <a:ln w="12700">
            <a:solidFill>
              <a:srgbClr val="2FA39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4680" y="3154679"/>
            <a:ext cx="23774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rag_tool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FAISS retriever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509760" y="4114800"/>
            <a:ext cx="2377440" cy="822960"/>
          </a:xfrm>
          <a:prstGeom prst="roundRect">
            <a:avLst>
              <a:gd name="adj" fmla="val 13333"/>
            </a:avLst>
          </a:prstGeom>
          <a:solidFill>
            <a:srgbClr val="2FA39B"/>
          </a:solidFill>
          <a:ln w="12700">
            <a:solidFill>
              <a:srgbClr val="2FA39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09760" y="4114800"/>
            <a:ext cx="23774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DuckDuckGo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live web search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645920" y="3794760"/>
            <a:ext cx="640080" cy="0"/>
          </a:xfrm>
          <a:prstGeom prst="line">
            <a:avLst/>
          </a:prstGeom>
          <a:noFill/>
          <a:ln w="22225">
            <a:solidFill>
              <a:srgbClr val="0B1D33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023360" y="3794760"/>
            <a:ext cx="640080" cy="0"/>
          </a:xfrm>
          <a:prstGeom prst="line">
            <a:avLst/>
          </a:prstGeom>
          <a:noFill/>
          <a:ln w="22225">
            <a:solidFill>
              <a:srgbClr val="0B1D33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3886200" y="350215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6304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query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800" y="3794760"/>
            <a:ext cx="640080" cy="0"/>
          </a:xfrm>
          <a:prstGeom prst="line">
            <a:avLst/>
          </a:prstGeom>
          <a:noFill/>
          <a:ln w="22225">
            <a:solidFill>
              <a:srgbClr val="0B1D33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6263640" y="350215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6304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state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961120" y="3703320"/>
            <a:ext cx="548640" cy="0"/>
          </a:xfrm>
          <a:prstGeom prst="line">
            <a:avLst/>
          </a:prstGeom>
          <a:noFill/>
          <a:ln w="22225">
            <a:solidFill>
              <a:srgbClr val="0B1D33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961120" y="3886200"/>
            <a:ext cx="548640" cy="640080"/>
          </a:xfrm>
          <a:prstGeom prst="line">
            <a:avLst/>
          </a:prstGeom>
          <a:noFill/>
          <a:ln w="22225">
            <a:solidFill>
              <a:srgbClr val="0B1D33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0698480" y="4937760"/>
            <a:ext cx="0" cy="685800"/>
          </a:xfrm>
          <a:prstGeom prst="line">
            <a:avLst/>
          </a:prstGeom>
          <a:noFill/>
          <a:ln w="22225">
            <a:solidFill>
              <a:srgbClr val="0B1D33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223760" y="2304288"/>
            <a:ext cx="1554480" cy="256032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223760" y="1682496"/>
            <a:ext cx="1554480" cy="749808"/>
          </a:xfrm>
          <a:prstGeom prst="rect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23760" y="1554480"/>
            <a:ext cx="1554480" cy="256032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23760" y="1682496"/>
            <a:ext cx="155448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InMemorySaver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per thread_id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001000" y="2560320"/>
            <a:ext cx="0" cy="731520"/>
          </a:xfrm>
          <a:prstGeom prst="line">
            <a:avLst/>
          </a:prstGeom>
          <a:noFill/>
          <a:ln w="22225">
            <a:solidFill>
              <a:srgbClr val="0B1D33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D9D3C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SAM · Agentic RAG on LangGraph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817352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 / 12</a:t>
            </a:r>
            <a:endParaRPr lang="en-US" sz="1000" dirty="0"/>
          </a:p>
        </p:txBody>
      </p:sp>
      <p:sp>
        <p:nvSpPr>
          <p:cNvPr id="46" name="Shape 18">
            <a:extLst>
              <a:ext uri="{FF2B5EF4-FFF2-40B4-BE49-F238E27FC236}">
                <a16:creationId xmlns:a16="http://schemas.microsoft.com/office/drawing/2014/main" id="{9165C7BF-1CA8-6BC0-C36E-A8EC02219E7A}"/>
              </a:ext>
            </a:extLst>
          </p:cNvPr>
          <p:cNvSpPr/>
          <p:nvPr/>
        </p:nvSpPr>
        <p:spPr>
          <a:xfrm>
            <a:off x="9665970" y="5623560"/>
            <a:ext cx="1920240" cy="704088"/>
          </a:xfrm>
          <a:prstGeom prst="roundRect">
            <a:avLst>
              <a:gd name="adj" fmla="val 10909"/>
            </a:avLst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45" name="Text 19">
            <a:extLst>
              <a:ext uri="{FF2B5EF4-FFF2-40B4-BE49-F238E27FC236}">
                <a16:creationId xmlns:a16="http://schemas.microsoft.com/office/drawing/2014/main" id="{45EB48CA-131C-E165-9503-4FBB2C90D7E7}"/>
              </a:ext>
            </a:extLst>
          </p:cNvPr>
          <p:cNvSpPr/>
          <p:nvPr/>
        </p:nvSpPr>
        <p:spPr>
          <a:xfrm>
            <a:off x="9665970" y="5472684"/>
            <a:ext cx="19202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Stream the Output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chemeClr val="accent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03 · ORCHESTRATION LAYER</a:t>
            </a:r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D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agent node decides: answer, or call a tool.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828800" cy="822960"/>
          </a:xfrm>
          <a:prstGeom prst="roundRect">
            <a:avLst>
              <a:gd name="adj" fmla="val 13333"/>
            </a:avLst>
          </a:prstGeom>
          <a:solidFill>
            <a:srgbClr val="3B6EA8"/>
          </a:solidFill>
          <a:ln w="12700">
            <a:solidFill>
              <a:srgbClr val="3B6E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20240"/>
            <a:ext cx="18288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State in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messages + config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26080" y="1920240"/>
            <a:ext cx="2011680" cy="822960"/>
          </a:xfrm>
          <a:prstGeom prst="roundRect">
            <a:avLst>
              <a:gd name="adj" fmla="val 13333"/>
            </a:avLst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0" y="1920240"/>
            <a:ext cx="20116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 (LLM)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gpt-4o-mini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399" y="3291840"/>
            <a:ext cx="1463040" cy="914400"/>
          </a:xfrm>
          <a:prstGeom prst="diamond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399" y="32918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tool_calls?</a:t>
            </a:r>
            <a:endParaRPr lang="en-US" sz="110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0A4026D-E031-E354-1F91-0C549EED0BA4}"/>
              </a:ext>
            </a:extLst>
          </p:cNvPr>
          <p:cNvGrpSpPr/>
          <p:nvPr/>
        </p:nvGrpSpPr>
        <p:grpSpPr>
          <a:xfrm>
            <a:off x="5486400" y="3337560"/>
            <a:ext cx="2011680" cy="822960"/>
            <a:chOff x="5029200" y="5263896"/>
            <a:chExt cx="2011680" cy="822960"/>
          </a:xfrm>
        </p:grpSpPr>
        <p:sp>
          <p:nvSpPr>
            <p:cNvPr id="12" name="Shape 10"/>
            <p:cNvSpPr/>
            <p:nvPr/>
          </p:nvSpPr>
          <p:spPr>
            <a:xfrm>
              <a:off x="5029200" y="5263896"/>
              <a:ext cx="2011680" cy="822960"/>
            </a:xfrm>
            <a:prstGeom prst="roundRect">
              <a:avLst>
                <a:gd name="adj" fmla="val 13333"/>
              </a:avLst>
            </a:prstGeom>
            <a:solidFill>
              <a:srgbClr val="3B6EA8"/>
            </a:solidFill>
            <a:ln w="12700">
              <a:solidFill>
                <a:srgbClr val="3B6EA8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5029200" y="5263896"/>
              <a:ext cx="2011680" cy="822960"/>
            </a:xfrm>
            <a:prstGeom prst="rect">
              <a:avLst/>
            </a:prstGeom>
            <a:noFill/>
            <a:ln/>
          </p:spPr>
          <p:txBody>
            <a:bodyPr wrap="square" lIns="50800" tIns="50800" rIns="50800" bIns="5080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Response</a:t>
              </a:r>
              <a:endParaRPr lang="en-US" sz="1300" dirty="0"/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streamed to UI</a:t>
              </a:r>
              <a:endParaRPr lang="en-US" sz="1300" dirty="0"/>
            </a:p>
          </p:txBody>
        </p:sp>
      </p:grpSp>
      <p:sp>
        <p:nvSpPr>
          <p:cNvPr id="14" name="Shape 12"/>
          <p:cNvSpPr/>
          <p:nvPr/>
        </p:nvSpPr>
        <p:spPr>
          <a:xfrm>
            <a:off x="2377440" y="2331720"/>
            <a:ext cx="548640" cy="0"/>
          </a:xfrm>
          <a:prstGeom prst="line">
            <a:avLst/>
          </a:prstGeom>
          <a:noFill/>
          <a:ln w="22225">
            <a:solidFill>
              <a:srgbClr val="0B1D3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3931919" y="2766060"/>
            <a:ext cx="0" cy="525780"/>
          </a:xfrm>
          <a:prstGeom prst="line">
            <a:avLst/>
          </a:prstGeom>
          <a:noFill/>
          <a:ln w="22225">
            <a:solidFill>
              <a:srgbClr val="0B1D33"/>
            </a:solidFill>
            <a:prstDash val="solid"/>
            <a:tailEnd type="triangle"/>
          </a:ln>
        </p:spPr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A92EF6A-A4C8-0E6E-4175-334BEA9AB63E}"/>
              </a:ext>
            </a:extLst>
          </p:cNvPr>
          <p:cNvGrpSpPr/>
          <p:nvPr/>
        </p:nvGrpSpPr>
        <p:grpSpPr>
          <a:xfrm>
            <a:off x="2834640" y="4236719"/>
            <a:ext cx="2194560" cy="1417320"/>
            <a:chOff x="5120640" y="2788920"/>
            <a:chExt cx="2194560" cy="1417320"/>
          </a:xfrm>
        </p:grpSpPr>
        <p:sp>
          <p:nvSpPr>
            <p:cNvPr id="10" name="Shape 8"/>
            <p:cNvSpPr/>
            <p:nvPr/>
          </p:nvSpPr>
          <p:spPr>
            <a:xfrm>
              <a:off x="5120640" y="3383280"/>
              <a:ext cx="2194560" cy="822960"/>
            </a:xfrm>
            <a:prstGeom prst="roundRect">
              <a:avLst>
                <a:gd name="adj" fmla="val 13333"/>
              </a:avLst>
            </a:prstGeom>
            <a:solidFill>
              <a:srgbClr val="2FA39B"/>
            </a:solidFill>
            <a:ln w="12700">
              <a:solidFill>
                <a:srgbClr val="2FA39B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5120640" y="3383280"/>
              <a:ext cx="2194560" cy="822960"/>
            </a:xfrm>
            <a:prstGeom prst="rect">
              <a:avLst/>
            </a:prstGeom>
            <a:noFill/>
            <a:ln/>
          </p:spPr>
          <p:txBody>
            <a:bodyPr wrap="square" lIns="50800" tIns="50800" rIns="50800" bIns="5080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ToolNode</a:t>
              </a:r>
              <a:endParaRPr lang="en-US" sz="1300" dirty="0"/>
            </a:p>
            <a:p>
              <a:pPr marL="0" indent="0" algn="ctr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rag_tool | search</a:t>
              </a:r>
              <a:endParaRPr lang="en-US" sz="13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6217920" y="2788920"/>
              <a:ext cx="0" cy="594360"/>
            </a:xfrm>
            <a:prstGeom prst="line">
              <a:avLst/>
            </a:prstGeom>
            <a:noFill/>
            <a:ln w="22225">
              <a:solidFill>
                <a:srgbClr val="0B1D33"/>
              </a:solidFill>
              <a:prstDash val="solid"/>
              <a:tailEnd type="triangle"/>
            </a:ln>
          </p:spPr>
        </p:sp>
      </p:grpSp>
      <p:sp>
        <p:nvSpPr>
          <p:cNvPr id="17" name="Text 15"/>
          <p:cNvSpPr/>
          <p:nvPr/>
        </p:nvSpPr>
        <p:spPr>
          <a:xfrm>
            <a:off x="3291840" y="437845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6304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yes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06050" y="3741420"/>
            <a:ext cx="780350" cy="0"/>
          </a:xfrm>
          <a:prstGeom prst="line">
            <a:avLst/>
          </a:prstGeom>
          <a:noFill/>
          <a:ln w="22225">
            <a:solidFill>
              <a:srgbClr val="0B1D33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572000" y="3512059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6304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931920" y="3794760"/>
            <a:ext cx="0" cy="0"/>
          </a:xfrm>
          <a:prstGeom prst="line">
            <a:avLst/>
          </a:prstGeom>
          <a:noFill/>
          <a:ln w="22225">
            <a:solidFill>
              <a:srgbClr val="0B1D33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7863840" y="1828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D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actually persists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863840" y="22402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0B1D3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InMemorySaver</a:t>
            </a:r>
            <a:r>
              <a:rPr lang="en-US" sz="1200" dirty="0">
                <a:solidFill>
                  <a:srgbClr val="5B647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checkpoints agent state keyed by </a:t>
            </a:r>
            <a:r>
              <a:rPr lang="en-US" sz="1200" dirty="0">
                <a:solidFill>
                  <a:srgbClr val="0B1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thread_id</a:t>
            </a:r>
            <a:r>
              <a:rPr lang="en-US" sz="1200" dirty="0">
                <a:solidFill>
                  <a:srgbClr val="5B647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863840" y="3108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D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extensibility seam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863840" y="352044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0B1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config["configurable"]</a:t>
            </a:r>
            <a:r>
              <a:rPr lang="en-US" sz="1200" dirty="0">
                <a:solidFill>
                  <a:srgbClr val="5B647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passes per-invocation context into the graph — the same channel planned for location &amp; timezone injection (see risk #3).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863840" y="50292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EC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 what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863840" y="54406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16304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graph is agentic, not linear — tool selection happens per turn, and every future context signal has a defined entry point.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D9D3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SAM · Agentic RAG on LangGraph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817352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chemeClr val="accent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04 · RAG PIPELINE</a:t>
            </a:r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D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PDF → chunks → embeddings → per-thread FAISS.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2194560"/>
            <a:ext cx="1600200" cy="1005840"/>
          </a:xfrm>
          <a:prstGeom prst="roundRect">
            <a:avLst>
              <a:gd name="adj" fmla="val 10909"/>
            </a:avLst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194560"/>
            <a:ext cx="160020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PDF upload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st.file_uploader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057400" y="2697480"/>
            <a:ext cx="320040" cy="0"/>
          </a:xfrm>
          <a:prstGeom prst="line">
            <a:avLst/>
          </a:prstGeom>
          <a:noFill/>
          <a:ln w="22225">
            <a:solidFill>
              <a:srgbClr val="0B1D3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377440" y="2194560"/>
            <a:ext cx="1600200" cy="1005840"/>
          </a:xfrm>
          <a:prstGeom prst="roundRect">
            <a:avLst>
              <a:gd name="adj" fmla="val 10909"/>
            </a:avLst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2194560"/>
            <a:ext cx="160020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PyPDFLoader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text extraction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977640" y="2697480"/>
            <a:ext cx="320040" cy="0"/>
          </a:xfrm>
          <a:prstGeom prst="line">
            <a:avLst/>
          </a:prstGeom>
          <a:noFill/>
          <a:ln w="22225">
            <a:solidFill>
              <a:srgbClr val="0B1D3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297680" y="2194560"/>
            <a:ext cx="1600200" cy="1005840"/>
          </a:xfrm>
          <a:prstGeom prst="roundRect">
            <a:avLst>
              <a:gd name="adj" fmla="val 10909"/>
            </a:avLst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2194560"/>
            <a:ext cx="160020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Splitter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size=1000 · overlap=200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897880" y="2697480"/>
            <a:ext cx="320040" cy="0"/>
          </a:xfrm>
          <a:prstGeom prst="line">
            <a:avLst/>
          </a:prstGeom>
          <a:noFill/>
          <a:ln w="22225">
            <a:solidFill>
              <a:srgbClr val="0B1D3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17920" y="2194560"/>
            <a:ext cx="1600200" cy="1005840"/>
          </a:xfrm>
          <a:prstGeom prst="roundRect">
            <a:avLst>
              <a:gd name="adj" fmla="val 10909"/>
            </a:avLst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2194560"/>
            <a:ext cx="160020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Embeddings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text-embedding-3-small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18120" y="2697480"/>
            <a:ext cx="320040" cy="0"/>
          </a:xfrm>
          <a:prstGeom prst="line">
            <a:avLst/>
          </a:prstGeom>
          <a:noFill/>
          <a:ln w="22225">
            <a:solidFill>
              <a:srgbClr val="0B1D3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138160" y="2990088"/>
            <a:ext cx="1737360" cy="256032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2276856"/>
            <a:ext cx="1737360" cy="841248"/>
          </a:xfrm>
          <a:prstGeom prst="rect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0" y="2148840"/>
            <a:ext cx="1737360" cy="256032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2276856"/>
            <a:ext cx="1737360" cy="8412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FAISS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in-memory index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1124712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9D3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2519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D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Per-thread isolation — the specific design decision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7D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_THREAD_RETRIEVERS</a:t>
            </a:r>
            <a:r>
              <a:rPr lang="en-US" sz="1300" dirty="0">
                <a:solidFill>
                  <a:srgbClr val="5B647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 dict[thread_id → FAISS retriever]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5074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7D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_THREAD_METADATA</a:t>
            </a:r>
            <a:r>
              <a:rPr lang="en-US" sz="1300" dirty="0">
                <a:solidFill>
                  <a:srgbClr val="5B647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   dict[thread_id → {filename, chunk_count, uploaded_at}]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5486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16304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Two module-level dicts scope every document upload to its own conversation — no cross-thread leakage, no shared index, no explicit tenancy layer to write.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D9D3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SAM · Agentic RAG on LangGraph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817352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chemeClr val="accent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05 · TOOL LAYER</a:t>
            </a:r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D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peers. The agent chooses per turn.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937760" y="2194560"/>
            <a:ext cx="2286000" cy="914400"/>
          </a:xfrm>
          <a:prstGeom prst="roundRect">
            <a:avLst>
              <a:gd name="adj" fmla="val 12000"/>
            </a:avLst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37760" y="2194560"/>
            <a:ext cx="22860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picks 0-N tools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4023360"/>
            <a:ext cx="493776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25400">
            <a:solidFill>
              <a:srgbClr val="2FA39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023360"/>
            <a:ext cx="128016" cy="2103120"/>
          </a:xfrm>
          <a:prstGeom prst="roundRect">
            <a:avLst/>
          </a:prstGeom>
          <a:solidFill>
            <a:srgbClr val="2FA39B"/>
          </a:solidFill>
          <a:ln w="12700">
            <a:solidFill>
              <a:srgbClr val="2FA39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42062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D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rag_tool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When: user asks about the uploaded PDF.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50292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How: similarity search over the thread's FAISS index; returns top-k chunks with source metadata.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023360"/>
            <a:ext cx="493776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25400">
            <a:solidFill>
              <a:srgbClr val="2FA39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4023360"/>
            <a:ext cx="128016" cy="2103120"/>
          </a:xfrm>
          <a:prstGeom prst="roundRect">
            <a:avLst/>
          </a:prstGeom>
          <a:solidFill>
            <a:srgbClr val="2FA39B"/>
          </a:solidFill>
          <a:ln w="12700">
            <a:solidFill>
              <a:srgbClr val="2FA39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42062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D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DuckDuckGo search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72084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When: time-sensitive or open-web questions.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20840" y="50292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How: free-text query, returns snippet list the agent can synthesize or re-query.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0" y="3108960"/>
            <a:ext cx="0" cy="914400"/>
          </a:xfrm>
          <a:prstGeom prst="line">
            <a:avLst/>
          </a:prstGeom>
          <a:noFill/>
          <a:ln w="22225">
            <a:solidFill>
              <a:srgbClr val="0B1D3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675120" y="3108960"/>
            <a:ext cx="2194560" cy="914400"/>
          </a:xfrm>
          <a:prstGeom prst="line">
            <a:avLst/>
          </a:prstGeom>
          <a:noFill/>
          <a:ln w="22225">
            <a:solidFill>
              <a:srgbClr val="0B1D3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D9D3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SAM · Agentic RAG on LangGraph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817352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chemeClr val="accent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06 · FRONTEND &amp; UX</a:t>
            </a:r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D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Streamlit, but shaped deliberately.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6400800" cy="4206240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12700">
            <a:solidFill>
              <a:srgbClr val="D9D3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1828800" cy="4206240"/>
          </a:xfrm>
          <a:prstGeom prst="rect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57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C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2468880"/>
            <a:ext cx="1554480" cy="36576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 w="12700">
            <a:solidFill>
              <a:srgbClr val="0B1D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468880"/>
            <a:ext cx="1463040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Q3 report Q&amp;A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685800" y="292608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16304F"/>
          </a:solidFill>
          <a:ln w="12700">
            <a:solidFill>
              <a:srgbClr val="0B1D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926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FAISS chunking notes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" y="338328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16304F"/>
          </a:solidFill>
          <a:ln w="12700">
            <a:solidFill>
              <a:srgbClr val="0B1D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383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Untitled 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" y="5029200"/>
            <a:ext cx="1554480" cy="960120"/>
          </a:xfrm>
          <a:prstGeom prst="roundRect">
            <a:avLst>
              <a:gd name="adj" fmla="val 5714"/>
            </a:avLst>
          </a:prstGeom>
          <a:solidFill>
            <a:srgbClr val="16304F"/>
          </a:solidFill>
          <a:ln w="12700">
            <a:solidFill>
              <a:srgbClr val="0B1D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50749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CAE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Location &amp; TZ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" y="5349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Berlin · CET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5623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CA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14:32:07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60320" y="21031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Q3 report — Q&amp;A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60320" y="2514600"/>
            <a:ext cx="4297680" cy="0"/>
          </a:xfrm>
          <a:prstGeom prst="line">
            <a:avLst/>
          </a:prstGeom>
          <a:noFill/>
          <a:ln w="9525">
            <a:solidFill>
              <a:srgbClr val="D9D3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0" y="2697480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F7F5F0"/>
          </a:solidFill>
          <a:ln w="12700">
            <a:solidFill>
              <a:srgbClr val="F7F5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97480" y="26974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Summarize the risk section.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0" y="3291840"/>
            <a:ext cx="4206240" cy="1463040"/>
          </a:xfrm>
          <a:prstGeom prst="roundRect">
            <a:avLst>
              <a:gd name="adj" fmla="val 5000"/>
            </a:avLst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97480" y="338328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Three risks are called out: FX exposure, supplier concentration, and delayed cloud-migration spend…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0" y="1920240"/>
            <a:ext cx="73152" cy="1234440"/>
          </a:xfrm>
          <a:prstGeom prst="rect">
            <a:avLst/>
          </a:prstGeom>
          <a:solidFill>
            <a:srgbClr val="8ECAE6"/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0" y="19202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Auto-generated, editable titles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98080" y="242316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First user turn seeds a title; user can rename inline.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0" y="3337560"/>
            <a:ext cx="73152" cy="1234440"/>
          </a:xfrm>
          <a:prstGeom prst="rect">
            <a:avLst/>
          </a:prstGeom>
          <a:solidFill>
            <a:srgbClr val="8ECAE6"/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0" y="33375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Collapsible Location &amp; Time Zone panel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98080" y="384048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UI exists today; wiring into config is intentionally deferred (see risk #3).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0" y="4754880"/>
            <a:ext cx="73152" cy="1234440"/>
          </a:xfrm>
          <a:prstGeom prst="rect">
            <a:avLst/>
          </a:prstGeom>
          <a:solidFill>
            <a:srgbClr val="8ECAE6"/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0" y="47548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clock via st.fragment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498080" y="525780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Only the clock re-renders — no full-app rerun cost per tick.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D9D3C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SAM · Agentic RAG on LangGraph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817352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chemeClr val="accent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07 · DEPLOYMENT</a:t>
            </a:r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D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Streamlit Community Cloud. Secret in TOML. Done.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377440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9AA3AF"/>
          </a:solidFill>
          <a:ln w="12700">
            <a:solidFill>
              <a:srgbClr val="9AA3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377440"/>
            <a:ext cx="219456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GitHub repo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main branch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0" y="2377440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3B6EA8"/>
          </a:solidFill>
          <a:ln w="12700">
            <a:solidFill>
              <a:srgbClr val="3B6E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0" y="2377440"/>
            <a:ext cx="256032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Streamlit Cloud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auto-deploy on push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49440" y="2377440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2FA39B"/>
          </a:solidFill>
          <a:ln w="12700">
            <a:solidFill>
              <a:srgbClr val="2FA39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0" y="2377440"/>
            <a:ext cx="219456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app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public URL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692640" y="3218688"/>
            <a:ext cx="1828800" cy="256032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92640" y="2414016"/>
            <a:ext cx="1828800" cy="932688"/>
          </a:xfrm>
          <a:prstGeom prst="rect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92640" y="2286000"/>
            <a:ext cx="1828800" cy="256032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0" y="2414016"/>
            <a:ext cx="1828800" cy="9326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secrets.toml</a:t>
            </a:r>
            <a:endParaRPr lang="en-US" sz="12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OPENAI_API_KEY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926080" y="2880360"/>
            <a:ext cx="731520" cy="0"/>
          </a:xfrm>
          <a:prstGeom prst="line">
            <a:avLst/>
          </a:prstGeom>
          <a:noFill/>
          <a:ln w="22225">
            <a:solidFill>
              <a:srgbClr val="0B1D3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17920" y="2880360"/>
            <a:ext cx="731520" cy="0"/>
          </a:xfrm>
          <a:prstGeom prst="line">
            <a:avLst/>
          </a:prstGeom>
          <a:noFill/>
          <a:ln w="22225">
            <a:solidFill>
              <a:srgbClr val="0B1D3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144000" y="2871216"/>
            <a:ext cx="548640" cy="13167"/>
          </a:xfrm>
          <a:prstGeom prst="line">
            <a:avLst/>
          </a:prstGeom>
          <a:noFill/>
          <a:ln w="22225">
            <a:solidFill>
              <a:srgbClr val="0B1D33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731520" y="457200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i="1" dirty="0">
                <a:solidFill>
                  <a:srgbClr val="16304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Framing: deployment simplicity is a feature at this stage — no infra to babysit, and the container-shaped work (persistent state, secrets rotation) is queued as an explicit next step, not an accident.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D9D3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SAM · Agentic RAG on LangGraph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817352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chemeClr val="accent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08 · BY THE NUMBERS</a:t>
            </a:r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D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system, in concrete values.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9D3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11680"/>
            <a:ext cx="3566160" cy="73152"/>
          </a:xfrm>
          <a:prstGeom prst="rect">
            <a:avLst/>
          </a:prstGeom>
          <a:solidFill>
            <a:schemeClr val="accent2"/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2402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B1D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1000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5B647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chunk size (chars)</a:t>
            </a:r>
            <a:endParaRPr lang="en-US" sz="1400" b="1" dirty="0"/>
          </a:p>
        </p:txBody>
      </p:sp>
      <p:sp>
        <p:nvSpPr>
          <p:cNvPr id="8" name="Shape 6"/>
          <p:cNvSpPr/>
          <p:nvPr/>
        </p:nvSpPr>
        <p:spPr>
          <a:xfrm>
            <a:off x="4251960" y="201168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9D3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51960" y="2011680"/>
            <a:ext cx="3566160" cy="73152"/>
          </a:xfrm>
          <a:prstGeom prst="rect">
            <a:avLst/>
          </a:prstGeom>
          <a:solidFill>
            <a:schemeClr val="accent2"/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22402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B1D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200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480560" y="31089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5B647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chunk overlap</a:t>
            </a:r>
            <a:endParaRPr lang="en-US" sz="1400" b="1" dirty="0"/>
          </a:p>
        </p:txBody>
      </p:sp>
      <p:sp>
        <p:nvSpPr>
          <p:cNvPr id="12" name="Shape 10"/>
          <p:cNvSpPr/>
          <p:nvPr/>
        </p:nvSpPr>
        <p:spPr>
          <a:xfrm>
            <a:off x="7955280" y="201168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9D3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2011680"/>
            <a:ext cx="3566160" cy="73152"/>
          </a:xfrm>
          <a:prstGeom prst="rect">
            <a:avLst/>
          </a:prstGeom>
          <a:solidFill>
            <a:schemeClr val="accent2"/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83880" y="22402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B1D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1536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8183880" y="31089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5B647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embedding dims · text-embedding-3-small</a:t>
            </a:r>
            <a:endParaRPr lang="en-US" sz="1400" b="1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9D3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931920"/>
            <a:ext cx="3566160" cy="73152"/>
          </a:xfrm>
          <a:prstGeom prst="rect">
            <a:avLst/>
          </a:prstGeom>
          <a:solidFill>
            <a:schemeClr val="accent2"/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1605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B1D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777240" y="50292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5B647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tools · rag_tool + DuckDuckGo</a:t>
            </a:r>
            <a:endParaRPr lang="en-US" sz="1400" b="1" dirty="0"/>
          </a:p>
        </p:txBody>
      </p:sp>
      <p:sp>
        <p:nvSpPr>
          <p:cNvPr id="20" name="Shape 18"/>
          <p:cNvSpPr/>
          <p:nvPr/>
        </p:nvSpPr>
        <p:spPr>
          <a:xfrm>
            <a:off x="4251960" y="393192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9D3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51960" y="3931920"/>
            <a:ext cx="3566160" cy="73152"/>
          </a:xfrm>
          <a:prstGeom prst="rect">
            <a:avLst/>
          </a:prstGeom>
          <a:solidFill>
            <a:schemeClr val="accent2"/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41605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1D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per-thread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4480560" y="50292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5B647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FAISS + checkpointer scope</a:t>
            </a:r>
            <a:endParaRPr lang="en-US" sz="1400" b="1" dirty="0"/>
          </a:p>
        </p:txBody>
      </p:sp>
      <p:sp>
        <p:nvSpPr>
          <p:cNvPr id="24" name="Shape 22"/>
          <p:cNvSpPr/>
          <p:nvPr/>
        </p:nvSpPr>
        <p:spPr>
          <a:xfrm>
            <a:off x="7955280" y="393192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9D3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55280" y="3931920"/>
            <a:ext cx="3566160" cy="73152"/>
          </a:xfrm>
          <a:prstGeom prst="rect">
            <a:avLst/>
          </a:prstGeom>
          <a:solidFill>
            <a:schemeClr val="accent2"/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83880" y="4160520"/>
            <a:ext cx="378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1D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gpt-4o-mini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8183880" y="50292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5B647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agent model</a:t>
            </a:r>
            <a:endParaRPr lang="en-US" sz="1400" b="1" dirty="0"/>
          </a:p>
        </p:txBody>
      </p:sp>
      <p:sp>
        <p:nvSpPr>
          <p:cNvPr id="28" name="Shape 26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D9D3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SAM · Agentic RAG on LangGraph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817352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chemeClr val="accent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09 · KNOWN ARCHITECTURAL RISKS</a:t>
            </a:r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D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What's solid, what's deferred — named on purpose.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112471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9D3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920240"/>
            <a:ext cx="822960" cy="1280160"/>
          </a:xfrm>
          <a:prstGeom prst="rect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20240"/>
            <a:ext cx="822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EC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20574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D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Durable storage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63040" y="246888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RAG store and LangGraph checkpointer are in-memory. A restart wipes uploaded PDFs and conversation state.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595360" y="219456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0" y="21945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High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112471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9D3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337560"/>
            <a:ext cx="822960" cy="1280160"/>
          </a:xfrm>
          <a:prstGeom prst="rect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337560"/>
            <a:ext cx="822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EC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63040" y="347472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D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Unbounded agent loop cost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63040" y="388620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 hard cap on tool-call iterations per turn. Pathological queries can compound token spend before returning.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595360" y="361188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0" y="36118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Medium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754880"/>
            <a:ext cx="112471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9D3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754880"/>
            <a:ext cx="822960" cy="1280160"/>
          </a:xfrm>
          <a:prstGeom prst="rect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754880"/>
            <a:ext cx="822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EC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463040" y="48920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D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UI/backend gap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463040" y="530352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Location &amp; timezone panel is rendered but not yet piped into config["configurable"] — the agent doesn't see it.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595360" y="502920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3B6EA8"/>
          </a:solidFill>
          <a:ln w="12700">
            <a:solidFill>
              <a:srgbClr val="3B6E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0" y="5029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Low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D9D3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SAM · Agentic RAG on LangGraph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817352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chemeClr val="accent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10 · ROADMAP</a:t>
            </a:r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D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Now, next, later — anchored to the three risks.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66160" cy="393192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9D3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11680"/>
            <a:ext cx="3566160" cy="457200"/>
          </a:xfrm>
          <a:prstGeom prst="rect">
            <a:avLst/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11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2953512"/>
            <a:ext cx="128016" cy="128016"/>
          </a:xfrm>
          <a:prstGeom prst="ellipse">
            <a:avLst/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692908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Persist FAISS index to disk (or swap for pgvector)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3822192"/>
            <a:ext cx="128016" cy="128016"/>
          </a:xfrm>
          <a:prstGeom prst="ellipse">
            <a:avLst/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7628" y="354584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Persist LangGraph checkpointer (SQLite → Postgres)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4690872"/>
            <a:ext cx="128016" cy="128016"/>
          </a:xfrm>
          <a:prstGeom prst="ellipse">
            <a:avLst/>
          </a:prstGeom>
          <a:solidFill>
            <a:srgbClr val="8ECAE6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36626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i="1" dirty="0">
                <a:solidFill>
                  <a:srgbClr val="16304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Addresses: R1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2011680"/>
            <a:ext cx="3566160" cy="393192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9D3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2011680"/>
            <a:ext cx="3566160" cy="45720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2011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17720" y="2953512"/>
            <a:ext cx="128016" cy="128016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6000" y="267462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Cap tool-call recursion + token budget per turn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17720" y="3822192"/>
            <a:ext cx="128016" cy="128016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6216" y="347472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Emit per-turn cost/latency telemetry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17720" y="4690872"/>
            <a:ext cx="128016" cy="128016"/>
          </a:xfrm>
          <a:prstGeom prst="ellipse">
            <a:avLst/>
          </a:prstGeom>
          <a:solidFill>
            <a:srgbClr val="8ECAE6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436626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i="1" dirty="0">
                <a:solidFill>
                  <a:srgbClr val="16304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Addresses: R2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46720" y="2011680"/>
            <a:ext cx="3566160" cy="393192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9D3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2011680"/>
            <a:ext cx="3566160" cy="457200"/>
          </a:xfrm>
          <a:prstGeom prst="rect">
            <a:avLst/>
          </a:prstGeom>
          <a:solidFill>
            <a:srgbClr val="3B6EA8"/>
          </a:solidFill>
          <a:ln w="12700">
            <a:solidFill>
              <a:srgbClr val="3B6E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2011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LATER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366760" y="2953512"/>
            <a:ext cx="128016" cy="128016"/>
          </a:xfrm>
          <a:prstGeom prst="ellipse">
            <a:avLst/>
          </a:prstGeom>
          <a:solidFill>
            <a:srgbClr val="3B6EA8"/>
          </a:solidFill>
          <a:ln w="12700">
            <a:solidFill>
              <a:srgbClr val="3B6E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0" y="267462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Wire Location/TZ panel into config["configurable"]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366760" y="3822192"/>
            <a:ext cx="128016" cy="128016"/>
          </a:xfrm>
          <a:prstGeom prst="ellipse">
            <a:avLst/>
          </a:prstGeom>
          <a:solidFill>
            <a:srgbClr val="3B6EA8"/>
          </a:solidFill>
          <a:ln w="12700">
            <a:solidFill>
              <a:srgbClr val="3B6E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82152" y="3535173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Add user auth so threads are user-scoped, not session-scoped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366760" y="4690872"/>
            <a:ext cx="128016" cy="128016"/>
          </a:xfrm>
          <a:prstGeom prst="ellipse">
            <a:avLst/>
          </a:prstGeom>
          <a:solidFill>
            <a:srgbClr val="8ECAE6"/>
          </a:solidFill>
          <a:ln w="12700">
            <a:solidFill>
              <a:srgbClr val="3B6E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95360" y="436626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i="1" dirty="0">
                <a:solidFill>
                  <a:srgbClr val="16304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Addresses: R3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D9D3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SAM · Agentic RAG on LangGraph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817352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914400"/>
            <a:ext cx="54864" cy="64008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63040"/>
            <a:ext cx="6949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400" b="1" dirty="0">
                <a:solidFill>
                  <a:srgbClr val="0B1D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Thanks.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630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 to feedback and collaboration.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chemeClr val="accent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Stack</a:t>
            </a:r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434340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LangGraph · LangChain · gpt-4o-mini · text-embedding-3-small · FAISS · Streamlit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955280" y="256032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SAM</a:t>
            </a:r>
            <a:endParaRPr lang="en-US" sz="1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998</Words>
  <Application>Microsoft Office PowerPoint</Application>
  <PresentationFormat>Widescreen</PresentationFormat>
  <Paragraphs>195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Consolas</vt:lpstr>
      <vt:lpstr>Montserrat</vt:lpstr>
      <vt:lpstr>Source Sans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SAM: An Agentic RAG Chatbot Built on LangGraph</dc:title>
  <dc:subject>PptxGenJS Presentation</dc:subject>
  <dc:creator>PptxGenJS</dc:creator>
  <cp:lastModifiedBy>Adamya Varshney</cp:lastModifiedBy>
  <cp:revision>3</cp:revision>
  <dcterms:created xsi:type="dcterms:W3CDTF">2026-07-15T06:06:34Z</dcterms:created>
  <dcterms:modified xsi:type="dcterms:W3CDTF">2026-07-15T07:10:15Z</dcterms:modified>
</cp:coreProperties>
</file>