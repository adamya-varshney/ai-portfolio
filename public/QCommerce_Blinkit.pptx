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3" r:id="rId2"/>
    <p:sldId id="256" r:id="rId3"/>
    <p:sldId id="257" r:id="rId4"/>
    <p:sldId id="259" r:id="rId5"/>
    <p:sldId id="260" r:id="rId6"/>
    <p:sldId id="261" r:id="rId7"/>
    <p:sldId id="274" r:id="rId8"/>
    <p:sldId id="258" r:id="rId9"/>
    <p:sldId id="266" r:id="rId10"/>
    <p:sldId id="264" r:id="rId11"/>
    <p:sldId id="270" r:id="rId12"/>
    <p:sldId id="267" r:id="rId13"/>
    <p:sldId id="262" r:id="rId14"/>
    <p:sldId id="268" r:id="rId15"/>
    <p:sldId id="265" r:id="rId16"/>
    <p:sldId id="263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0"/>
    <a:srgbClr val="FACC45"/>
    <a:srgbClr val="F9C424"/>
    <a:srgbClr val="1D83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0C644-E65D-40B1-8180-E5334A9C5B8A}" v="284" dt="2026-04-04T06:49:23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907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AC5B-AC96-EAA8-54F3-7305F020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B4FF3-D8CB-9F8A-AF73-B811E0B92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09B42-64DE-6A8C-D84F-AFA124D79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CC1FC-E9D4-1E2C-1EE7-E83CBE3BF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59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2BEB-EE8E-E1F9-3489-6BAC612D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88847-B9EE-1ECD-4A77-6F2B46BA8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7D5D6-A533-5A9C-3089-A3310D7E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A7AAC-A8A4-DBFB-BC9E-56D5C9B0C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64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4D596-0EB7-C7F3-365A-7F02B271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4C42C-1166-3C3E-2393-5461D0296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2DC99-913E-02C2-8B9C-8A5B0D313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5D67D-57A7-6F75-276F-6853B0894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20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6025-460E-478E-EDFE-10393DD0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018F6-1D82-87AB-C1AC-52A3E965E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74F14-972D-C617-07E4-DF52FCDCF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ECD1E-10FC-56A1-96FF-034D5D75D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50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C73E-2B1B-2054-33F9-B64F3E59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4B155-E945-5882-FA71-C9C009CE9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E485A-08AC-8BD8-21D3-833C91F44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0925B-0139-DFD7-F06A-82705587A3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98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62582-F870-BD1D-C1FD-11F997A5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CEA9B-324B-83B1-D2FF-614A23CB1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5073C-CCD2-9628-E7ED-DDAA2DF79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E6EC7-59AF-6FCE-ED70-3C2DF33F6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43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40A5-66D1-1ECC-A8FB-AF80042F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A7444-9D29-1E78-8620-7E5935924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AD9FD-2D01-0DBC-D88E-869E2F8A8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1EB1E-5CE8-4F0B-3F6D-EACEF1D115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88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0DFD3-1A4C-AEA8-B661-89307F37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50F66-4E62-BA3D-DDD2-AB2F4507F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FB248-EEB4-64E5-EC54-3E472C3FE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BEB81-2466-2C2A-BA02-7095CC212A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66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7D08B-2D7F-FD70-94AB-3B28C5A4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FECB8-5351-D7B9-3711-5A28FD635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CB015-F547-3C45-40AC-C91EE9321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2A487-1616-F894-8141-6BB219AC1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53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B6960-076F-8772-A257-450FE720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8B787-8DB1-57DA-413E-21D6F480E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65FD0-C736-23CE-B667-90D0D2DD9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B3E74-C195-AED2-9866-8F0ADC3D7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77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A3D8-0F64-B20A-4F8C-5B4348A5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A26D9-FECE-B221-BD3B-CA7072F55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DABD1-2590-75ED-1571-25B59762C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393B4-A66E-BC98-487A-285D01226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78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FB0A-EEF3-C7E2-87CF-AB0836346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B7B66-4533-B14E-B0A5-718E1D212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03439-4810-DD23-0F52-938A549A5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C4D0B-C1F3-BE85-2112-26CE01D9CB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855F5-C52F-9DC6-3A6A-AD526564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>
            <a:extLst>
              <a:ext uri="{FF2B5EF4-FFF2-40B4-BE49-F238E27FC236}">
                <a16:creationId xmlns:a16="http://schemas.microsoft.com/office/drawing/2014/main" id="{BF02E8C3-99C9-CE59-22DD-DE2D30BE3CC0}"/>
              </a:ext>
            </a:extLst>
          </p:cNvPr>
          <p:cNvSpPr/>
          <p:nvPr/>
        </p:nvSpPr>
        <p:spPr>
          <a:xfrm rot="5400000">
            <a:off x="3880622" y="-119882"/>
            <a:ext cx="1382760" cy="9144003"/>
          </a:xfrm>
          <a:prstGeom prst="rect">
            <a:avLst/>
          </a:prstGeom>
          <a:solidFill>
            <a:srgbClr val="FACC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DAE2217-B567-CF98-D356-E2C4B8F0B4ED}"/>
              </a:ext>
            </a:extLst>
          </p:cNvPr>
          <p:cNvSpPr/>
          <p:nvPr/>
        </p:nvSpPr>
        <p:spPr>
          <a:xfrm rot="5400000">
            <a:off x="3484671" y="-3350467"/>
            <a:ext cx="2174651" cy="9144003"/>
          </a:xfrm>
          <a:prstGeom prst="rect">
            <a:avLst/>
          </a:prstGeom>
          <a:solidFill>
            <a:srgbClr val="FACC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ACD9F4F-AE4B-223C-0F97-4160C22E5197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/>
          </a:p>
        </p:txBody>
      </p:sp>
      <p:pic>
        <p:nvPicPr>
          <p:cNvPr id="1026" name="Picture 2" descr="Tags - blinkit logo icon - Mepiks - Free and Premium Stock ...">
            <a:extLst>
              <a:ext uri="{FF2B5EF4-FFF2-40B4-BE49-F238E27FC236}">
                <a16:creationId xmlns:a16="http://schemas.microsoft.com/office/drawing/2014/main" id="{F9AC0E23-7795-BD02-71DE-A7C1F4DBA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12"/>
          <a:stretch>
            <a:fillRect/>
          </a:stretch>
        </p:blipFill>
        <p:spPr bwMode="auto">
          <a:xfrm>
            <a:off x="3211289" y="392111"/>
            <a:ext cx="2721413" cy="76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4F1ED-3401-0AA3-B16B-792AFE490FAE}"/>
              </a:ext>
            </a:extLst>
          </p:cNvPr>
          <p:cNvSpPr txBox="1"/>
          <p:nvPr/>
        </p:nvSpPr>
        <p:spPr>
          <a:xfrm>
            <a:off x="63930" y="4020551"/>
            <a:ext cx="2015796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ea typeface="Calibri"/>
                <a:cs typeface="Calibri"/>
              </a:rPr>
              <a:t>Adamya Varshney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35A3C-269F-553A-51A8-637ACA90658A}"/>
              </a:ext>
            </a:extLst>
          </p:cNvPr>
          <p:cNvSpPr txBox="1"/>
          <p:nvPr/>
        </p:nvSpPr>
        <p:spPr>
          <a:xfrm>
            <a:off x="7128208" y="4021314"/>
            <a:ext cx="2015796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ea typeface="Calibri"/>
                <a:cs typeface="Calibri"/>
              </a:rPr>
              <a:t>Ankita Chatterjee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4493E5C-449E-16B7-0742-41C12924D3EE}"/>
              </a:ext>
            </a:extLst>
          </p:cNvPr>
          <p:cNvSpPr/>
          <p:nvPr/>
        </p:nvSpPr>
        <p:spPr>
          <a:xfrm rot="5400000">
            <a:off x="4523603" y="-859659"/>
            <a:ext cx="96797" cy="9144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BF1B1716-6CC5-DAF0-173F-8082757435AF}"/>
              </a:ext>
            </a:extLst>
          </p:cNvPr>
          <p:cNvSpPr/>
          <p:nvPr/>
        </p:nvSpPr>
        <p:spPr>
          <a:xfrm>
            <a:off x="1397203" y="1213555"/>
            <a:ext cx="6273384" cy="836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latin typeface="Arial Black" pitchFamily="34" charset="0"/>
              </a:rPr>
              <a:t>Increasing AOV for Blinkit Through Better </a:t>
            </a:r>
            <a:r>
              <a:rPr lang="en-US" b="1">
                <a:solidFill>
                  <a:schemeClr val="bg1"/>
                </a:solidFill>
                <a:latin typeface="Arial Black" pitchFamily="34" charset="0"/>
              </a:rPr>
              <a:t>Discovery</a:t>
            </a:r>
            <a:r>
              <a:rPr lang="en-US" b="1">
                <a:latin typeface="Arial Black" pitchFamily="34" charset="0"/>
              </a:rPr>
              <a:t> &amp; </a:t>
            </a:r>
            <a:r>
              <a:rPr lang="en-US" b="1">
                <a:solidFill>
                  <a:schemeClr val="bg1"/>
                </a:solidFill>
                <a:latin typeface="Arial Black" pitchFamily="34" charset="0"/>
              </a:rPr>
              <a:t>User Experience 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BC76212-C1BE-A6FA-B853-022ECAE72D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333" r="833" b="33185"/>
          <a:stretch>
            <a:fillRect/>
          </a:stretch>
        </p:blipFill>
        <p:spPr>
          <a:xfrm>
            <a:off x="-5" y="2180194"/>
            <a:ext cx="9067800" cy="1722120"/>
          </a:xfrm>
          <a:prstGeom prst="rect">
            <a:avLst/>
          </a:prstGeom>
        </p:spPr>
      </p:pic>
      <p:sp>
        <p:nvSpPr>
          <p:cNvPr id="56" name="Shape 0">
            <a:extLst>
              <a:ext uri="{FF2B5EF4-FFF2-40B4-BE49-F238E27FC236}">
                <a16:creationId xmlns:a16="http://schemas.microsoft.com/office/drawing/2014/main" id="{BA61CFA0-A2C3-23F3-00FE-64A779717D55}"/>
              </a:ext>
            </a:extLst>
          </p:cNvPr>
          <p:cNvSpPr/>
          <p:nvPr/>
        </p:nvSpPr>
        <p:spPr>
          <a:xfrm>
            <a:off x="0" y="1"/>
            <a:ext cx="9144000" cy="134208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1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312343" y="-3431346"/>
            <a:ext cx="519313" cy="91440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9176" y="977793"/>
            <a:ext cx="3177931" cy="35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Analysis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263373"/>
            <a:ext cx="4572000" cy="45720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83464" y="28545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Indian Q-Commerce</a:t>
            </a:r>
            <a:endParaRPr lang="en-US" sz="380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400533"/>
            <a:ext cx="1965960" cy="14173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3400533"/>
            <a:ext cx="1965960" cy="73152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3491973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9C4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$3.5B</a:t>
            </a:r>
            <a:endParaRPr lang="en-US" sz="3000"/>
          </a:p>
        </p:txBody>
      </p:sp>
      <p:sp>
        <p:nvSpPr>
          <p:cNvPr id="13" name="Text 11"/>
          <p:cNvSpPr/>
          <p:nvPr/>
        </p:nvSpPr>
        <p:spPr>
          <a:xfrm>
            <a:off x="502920" y="4113765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950" b="1"/>
          </a:p>
          <a:p>
            <a:pPr marL="0" indent="0">
              <a:buNone/>
            </a:pPr>
            <a:r>
              <a:rPr lang="en-US" sz="950" b="1"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50" b="1"/>
          </a:p>
        </p:txBody>
      </p:sp>
      <p:sp>
        <p:nvSpPr>
          <p:cNvPr id="14" name="Shape 12"/>
          <p:cNvSpPr/>
          <p:nvPr/>
        </p:nvSpPr>
        <p:spPr>
          <a:xfrm>
            <a:off x="2542032" y="3400533"/>
            <a:ext cx="1965960" cy="14173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42032" y="3400533"/>
            <a:ext cx="1965960" cy="73152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79192" y="3491973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83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$35B</a:t>
            </a:r>
            <a:endParaRPr lang="en-US" sz="3000"/>
          </a:p>
        </p:txBody>
      </p:sp>
      <p:sp>
        <p:nvSpPr>
          <p:cNvPr id="17" name="Text 15"/>
          <p:cNvSpPr/>
          <p:nvPr/>
        </p:nvSpPr>
        <p:spPr>
          <a:xfrm>
            <a:off x="2679192" y="4113765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latin typeface="Arial" pitchFamily="34" charset="0"/>
                <a:ea typeface="Arial" pitchFamily="34" charset="-122"/>
                <a:cs typeface="Arial" pitchFamily="34" charset="-120"/>
              </a:rPr>
              <a:t>Projected Size</a:t>
            </a:r>
            <a:endParaRPr lang="en-US" sz="950" b="1"/>
          </a:p>
          <a:p>
            <a:pPr marL="0" indent="0">
              <a:buNone/>
            </a:pPr>
            <a:r>
              <a:rPr lang="en-US" sz="950" b="1"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950" b="1"/>
          </a:p>
        </p:txBody>
      </p:sp>
      <p:sp>
        <p:nvSpPr>
          <p:cNvPr id="18" name="Shape 16"/>
          <p:cNvSpPr/>
          <p:nvPr/>
        </p:nvSpPr>
        <p:spPr>
          <a:xfrm>
            <a:off x="4718304" y="3400533"/>
            <a:ext cx="1965960" cy="14173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18304" y="3400533"/>
            <a:ext cx="1965960" cy="73152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55464" y="3491973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9C4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000"/>
          </a:p>
        </p:txBody>
      </p:sp>
      <p:sp>
        <p:nvSpPr>
          <p:cNvPr id="21" name="Text 19"/>
          <p:cNvSpPr/>
          <p:nvPr/>
        </p:nvSpPr>
        <p:spPr>
          <a:xfrm>
            <a:off x="4855464" y="4113765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50" b="1"/>
          </a:p>
          <a:p>
            <a:pPr marL="0" indent="0">
              <a:buNone/>
            </a:pPr>
            <a:r>
              <a:rPr lang="en-US" sz="950" b="1"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950" b="1"/>
          </a:p>
        </p:txBody>
      </p:sp>
      <p:sp>
        <p:nvSpPr>
          <p:cNvPr id="22" name="Shape 20"/>
          <p:cNvSpPr/>
          <p:nvPr/>
        </p:nvSpPr>
        <p:spPr>
          <a:xfrm>
            <a:off x="6858000" y="3401975"/>
            <a:ext cx="1965960" cy="1398108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58000" y="3401975"/>
            <a:ext cx="1965960" cy="73152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95160" y="3474203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83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3000"/>
          </a:p>
        </p:txBody>
      </p:sp>
      <p:sp>
        <p:nvSpPr>
          <p:cNvPr id="25" name="Text 23"/>
          <p:cNvSpPr/>
          <p:nvPr/>
        </p:nvSpPr>
        <p:spPr>
          <a:xfrm>
            <a:off x="6995160" y="4095995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</a:t>
            </a:r>
            <a:endParaRPr lang="en-US" sz="950" b="1">
              <a:solidFill>
                <a:sysClr val="windowText" lastClr="000000"/>
              </a:solidFill>
            </a:endParaRPr>
          </a:p>
          <a:p>
            <a:pPr marL="0" indent="0">
              <a:buNone/>
            </a:pPr>
            <a:r>
              <a:rPr lang="en-US" sz="950" b="1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950" b="1">
              <a:solidFill>
                <a:sysClr val="windowText" lastClr="000000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29176" y="2036590"/>
            <a:ext cx="42036" cy="611939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9235" y="2109440"/>
            <a:ext cx="315266" cy="4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🏪</a:t>
            </a:r>
            <a:endParaRPr lang="en-US" sz="1800"/>
          </a:p>
        </p:txBody>
      </p:sp>
      <p:sp>
        <p:nvSpPr>
          <p:cNvPr id="33" name="Text 31"/>
          <p:cNvSpPr/>
          <p:nvPr/>
        </p:nvSpPr>
        <p:spPr>
          <a:xfrm>
            <a:off x="935519" y="2080300"/>
            <a:ext cx="1786510" cy="20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Stores</a:t>
            </a:r>
            <a:endParaRPr lang="en-US" sz="1050">
              <a:solidFill>
                <a:sysClr val="windowText" lastClr="00000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35519" y="2298850"/>
            <a:ext cx="1786510" cy="305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Micro-fulfillment centers 2,500–4,000 sq ft within 1.5–3km of customers</a:t>
            </a:r>
            <a:endParaRPr lang="en-US" sz="850">
              <a:solidFill>
                <a:sysClr val="windowText" lastClr="000000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838520" y="2036170"/>
            <a:ext cx="45719" cy="563281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879854" y="2132786"/>
            <a:ext cx="353232" cy="394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⚡</a:t>
            </a:r>
            <a:endParaRPr lang="en-US" sz="1800"/>
          </a:p>
        </p:txBody>
      </p:sp>
      <p:sp>
        <p:nvSpPr>
          <p:cNvPr id="38" name="Text 36"/>
          <p:cNvSpPr/>
          <p:nvPr/>
        </p:nvSpPr>
        <p:spPr>
          <a:xfrm>
            <a:off x="3185319" y="2083480"/>
            <a:ext cx="2001650" cy="2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Promise</a:t>
            </a:r>
            <a:endParaRPr lang="en-US" sz="1050">
              <a:solidFill>
                <a:sysClr val="windowText" lastClr="00000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09203" y="2284279"/>
            <a:ext cx="1278120" cy="611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picked in &lt;120 sec; delivered in 10–30 min via AI-optimized routes</a:t>
            </a:r>
            <a:endParaRPr lang="en-US" sz="850">
              <a:solidFill>
                <a:sysClr val="windowText" lastClr="000000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43102" y="2036172"/>
            <a:ext cx="45719" cy="563280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11773" y="2132786"/>
            <a:ext cx="340409" cy="4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🤖</a:t>
            </a:r>
            <a:endParaRPr lang="en-US" sz="1800"/>
          </a:p>
        </p:txBody>
      </p:sp>
      <p:sp>
        <p:nvSpPr>
          <p:cNvPr id="43" name="Text 41"/>
          <p:cNvSpPr/>
          <p:nvPr/>
        </p:nvSpPr>
        <p:spPr>
          <a:xfrm>
            <a:off x="5083476" y="2095123"/>
            <a:ext cx="1928986" cy="20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050">
              <a:solidFill>
                <a:sysClr val="windowText" lastClr="000000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5083476" y="2276274"/>
            <a:ext cx="1561276" cy="46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for SKU-level demand forecasting &amp; dynamic routing</a:t>
            </a:r>
            <a:endParaRPr lang="en-US" sz="850">
              <a:solidFill>
                <a:sysClr val="windowText" lastClr="000000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676046" y="2036590"/>
            <a:ext cx="46738" cy="568230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754078" y="2106494"/>
            <a:ext cx="350536" cy="35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📦</a:t>
            </a:r>
            <a:endParaRPr lang="en-US" sz="1800"/>
          </a:p>
        </p:txBody>
      </p:sp>
      <p:sp>
        <p:nvSpPr>
          <p:cNvPr id="48" name="Text 46"/>
          <p:cNvSpPr/>
          <p:nvPr/>
        </p:nvSpPr>
        <p:spPr>
          <a:xfrm>
            <a:off x="7104614" y="2106604"/>
            <a:ext cx="1986371" cy="181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 SKUs</a:t>
            </a:r>
            <a:endParaRPr lang="en-US" sz="1050">
              <a:solidFill>
                <a:sysClr val="windowText" lastClr="000000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7085326" y="2326300"/>
            <a:ext cx="1499913" cy="41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groceries to electronics, beauty and fashion — one super-app</a:t>
            </a:r>
            <a:endParaRPr lang="en-US" sz="850">
              <a:solidFill>
                <a:sysClr val="windowText" lastClr="000000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1677147B-6683-5EC5-EB35-112986DB2648}"/>
              </a:ext>
            </a:extLst>
          </p:cNvPr>
          <p:cNvSpPr/>
          <p:nvPr/>
        </p:nvSpPr>
        <p:spPr>
          <a:xfrm>
            <a:off x="5052182" y="3261762"/>
            <a:ext cx="3587880" cy="45719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0">
            <a:extLst>
              <a:ext uri="{FF2B5EF4-FFF2-40B4-BE49-F238E27FC236}">
                <a16:creationId xmlns:a16="http://schemas.microsoft.com/office/drawing/2014/main" id="{1436D549-0C86-CC79-25A3-8953790672D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0CC60374-E48A-7576-A01E-724A2FFC7449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POTENTIAL &amp; PRODUCT OVERVIEW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POTENTIAL &amp; PRODUCT OVERVIEW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256032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GMV Growth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1920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64008" cy="731520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0624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$0.3B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20624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— Nascent Phase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2377440" y="1170432"/>
            <a:ext cx="1920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77440" y="1170432"/>
            <a:ext cx="64008" cy="731520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42032" y="1234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$6.5B</a:t>
            </a:r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2542032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— Rapid Scaling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256032" y="1993392"/>
            <a:ext cx="1920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56032" y="1993392"/>
            <a:ext cx="64008" cy="731520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0624" y="2057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$8.8B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20624" y="2441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2025P — Non-Grocery Pivot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2377440" y="1993392"/>
            <a:ext cx="19202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377440" y="1993392"/>
            <a:ext cx="64008" cy="731520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42032" y="20574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$35B</a:t>
            </a:r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2542032" y="2441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2030P — Structural Dominance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256032" y="2907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D83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at a Glance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256032" y="3218688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~65% of all online grocery orders in India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256032" y="3566160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~10% of total e-retail spending today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256032" y="391363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 60% new shoppers from Tier 3+ cities since 2020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256032" y="426110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4.5 orders/month average per household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572000" y="777240"/>
            <a:ext cx="43434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09160" y="886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Evolution — The Super-App Pivot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470916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Groceries &amp; FMCG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4709160" y="1453896"/>
            <a:ext cx="3200400" cy="155448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1453896"/>
            <a:ext cx="2560320" cy="155448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955280" y="1417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4709160" y="17647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&amp; Personal Care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709160" y="1984248"/>
            <a:ext cx="3200400" cy="155448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1984248"/>
            <a:ext cx="480060" cy="155448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955280" y="1947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4709160" y="22951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4709160" y="2514600"/>
            <a:ext cx="3200400" cy="155448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2514600"/>
            <a:ext cx="384048" cy="155448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955280" y="24780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4709160" y="2825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(emerging)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4709160" y="3044952"/>
            <a:ext cx="3200400" cy="155448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09160" y="3044952"/>
            <a:ext cx="256032" cy="155448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955280" y="30083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4709160" y="3383280"/>
            <a:ext cx="4069080" cy="0"/>
          </a:xfrm>
          <a:prstGeom prst="line">
            <a:avLst/>
          </a:prstGeom>
          <a:noFill/>
          <a:ln w="19050">
            <a:solidFill>
              <a:srgbClr val="F2EF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09160" y="3474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 Snapshot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4709160" y="3794760"/>
            <a:ext cx="4114800" cy="246888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00600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7040880" y="38313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₹450 – ₹709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4709160" y="4069080"/>
            <a:ext cx="411480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0600" y="41056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7040880" y="41056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– 25%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4709160" y="4343400"/>
            <a:ext cx="4114800" cy="246888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800600" y="43799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Cost / Order</a:t>
            </a:r>
            <a:endParaRPr lang="en-US" sz="850"/>
          </a:p>
        </p:txBody>
      </p:sp>
      <p:sp>
        <p:nvSpPr>
          <p:cNvPr id="56" name="Text 54"/>
          <p:cNvSpPr/>
          <p:nvPr/>
        </p:nvSpPr>
        <p:spPr>
          <a:xfrm>
            <a:off x="7040880" y="43799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 – ₹55</a:t>
            </a:r>
            <a:endParaRPr lang="en-US" sz="850"/>
          </a:p>
        </p:txBody>
      </p:sp>
      <p:sp>
        <p:nvSpPr>
          <p:cNvPr id="57" name="Shape 55"/>
          <p:cNvSpPr/>
          <p:nvPr/>
        </p:nvSpPr>
        <p:spPr>
          <a:xfrm>
            <a:off x="4709160" y="4617720"/>
            <a:ext cx="411480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0600" y="4654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Store Break-even</a:t>
            </a:r>
            <a:endParaRPr lang="en-US" sz="850"/>
          </a:p>
        </p:txBody>
      </p:sp>
      <p:sp>
        <p:nvSpPr>
          <p:cNvPr id="59" name="Text 57"/>
          <p:cNvSpPr/>
          <p:nvPr/>
        </p:nvSpPr>
        <p:spPr>
          <a:xfrm>
            <a:off x="7040880" y="465429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&gt;800 orders/day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Bain &amp; Company · RedSeer · Industry Reports 2024–2025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BENCHMARKING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2084832" cy="4069080"/>
          </a:xfrm>
          <a:prstGeom prst="rect">
            <a:avLst/>
          </a:prstGeom>
          <a:solidFill>
            <a:srgbClr val="FEF3C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773936" y="822960"/>
            <a:ext cx="457200" cy="256032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73936" y="822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#1</a:t>
            </a:r>
            <a:endParaRPr lang="en-US" sz="800"/>
          </a:p>
        </p:txBody>
      </p:sp>
      <p:sp>
        <p:nvSpPr>
          <p:cNvPr id="9" name="Shape 7"/>
          <p:cNvSpPr/>
          <p:nvPr/>
        </p:nvSpPr>
        <p:spPr>
          <a:xfrm>
            <a:off x="164592" y="804672"/>
            <a:ext cx="2084832" cy="621792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7744" y="850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BLINKIT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37744" y="118872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237744" y="1499616"/>
            <a:ext cx="1938528" cy="274320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7744" y="1499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Share: 45–50%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237744" y="1847088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83464" y="1874520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283464" y="20299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₹460-500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237744" y="2267712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83464" y="2295144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750"/>
          </a:p>
        </p:txBody>
      </p:sp>
      <p:sp>
        <p:nvSpPr>
          <p:cNvPr id="19" name="Text 17"/>
          <p:cNvSpPr/>
          <p:nvPr/>
        </p:nvSpPr>
        <p:spPr>
          <a:xfrm>
            <a:off x="283464" y="2450592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min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37744" y="2688336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83464" y="2715768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283464" y="2871216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metros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237744" y="3108960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3464" y="313639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283464" y="3291840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/ Organized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237744" y="3529584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83464" y="3557016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283464" y="3712464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Gold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164592" y="4160520"/>
            <a:ext cx="2084832" cy="713232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37744" y="4178808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</a:t>
            </a:r>
            <a:endParaRPr lang="en-US" sz="700"/>
          </a:p>
        </p:txBody>
      </p:sp>
      <p:sp>
        <p:nvSpPr>
          <p:cNvPr id="31" name="Text 29"/>
          <p:cNvSpPr/>
          <p:nvPr/>
        </p:nvSpPr>
        <p:spPr>
          <a:xfrm>
            <a:off x="237744" y="435254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Widest SKUs (15,000+), electronics, contextual UX triggers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2386584" y="804672"/>
            <a:ext cx="2084832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386584" y="804672"/>
            <a:ext cx="2084832" cy="6217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459736" y="850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ZEPTO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2459736" y="118872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2459736" y="1499616"/>
            <a:ext cx="1938528" cy="27432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459736" y="1499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Share: 21–29%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2459736" y="1847088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505456" y="1874520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</a:t>
            </a:r>
            <a:endParaRPr lang="en-US" sz="750"/>
          </a:p>
        </p:txBody>
      </p:sp>
      <p:sp>
        <p:nvSpPr>
          <p:cNvPr id="40" name="Text 38"/>
          <p:cNvSpPr/>
          <p:nvPr/>
        </p:nvSpPr>
        <p:spPr>
          <a:xfrm>
            <a:off x="2505456" y="20299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₹607-650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2459736" y="2267712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505456" y="2295144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2505456" y="2450592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min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>
          <a:xfrm>
            <a:off x="2459736" y="2688336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505456" y="2715768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750"/>
          </a:p>
        </p:txBody>
      </p:sp>
      <p:sp>
        <p:nvSpPr>
          <p:cNvPr id="46" name="Text 44"/>
          <p:cNvSpPr/>
          <p:nvPr/>
        </p:nvSpPr>
        <p:spPr>
          <a:xfrm>
            <a:off x="2505456" y="2871216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metros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2459736" y="3108960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505456" y="313639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750"/>
          </a:p>
        </p:txBody>
      </p:sp>
      <p:sp>
        <p:nvSpPr>
          <p:cNvPr id="49" name="Text 47"/>
          <p:cNvSpPr/>
          <p:nvPr/>
        </p:nvSpPr>
        <p:spPr>
          <a:xfrm>
            <a:off x="2505456" y="3291840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Minimalist / Lightning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2459736" y="3529584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505456" y="3557016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750"/>
          </a:p>
        </p:txBody>
      </p:sp>
      <p:sp>
        <p:nvSpPr>
          <p:cNvPr id="52" name="Text 50"/>
          <p:cNvSpPr/>
          <p:nvPr/>
        </p:nvSpPr>
        <p:spPr>
          <a:xfrm>
            <a:off x="2505456" y="3712464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Zepto Pass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2386584" y="4160520"/>
            <a:ext cx="2084832" cy="7132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459736" y="4178808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</a:t>
            </a:r>
            <a:endParaRPr lang="en-US" sz="700"/>
          </a:p>
        </p:txBody>
      </p:sp>
      <p:sp>
        <p:nvSpPr>
          <p:cNvPr id="55" name="Text 53"/>
          <p:cNvSpPr/>
          <p:nvPr/>
        </p:nvSpPr>
        <p:spPr>
          <a:xfrm>
            <a:off x="2459736" y="435254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rating (4.7/5), Zepto Café, density-first model</a:t>
            </a:r>
            <a:endParaRPr lang="en-US" sz="750"/>
          </a:p>
        </p:txBody>
      </p:sp>
      <p:sp>
        <p:nvSpPr>
          <p:cNvPr id="56" name="Shape 54"/>
          <p:cNvSpPr/>
          <p:nvPr/>
        </p:nvSpPr>
        <p:spPr>
          <a:xfrm>
            <a:off x="4608576" y="804672"/>
            <a:ext cx="2084832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608576" y="804672"/>
            <a:ext cx="2084832" cy="621792"/>
          </a:xfrm>
          <a:prstGeom prst="rect">
            <a:avLst/>
          </a:prstGeom>
          <a:solidFill>
            <a:srgbClr val="E859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681728" y="850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SWIGGY INSTAMART</a:t>
            </a:r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4681728" y="118872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4681728" y="1499616"/>
            <a:ext cx="1938528" cy="27432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681728" y="1499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Share: 23–27%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4681728" y="1847088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727448" y="1874520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</a:t>
            </a:r>
            <a:endParaRPr lang="en-US" sz="750"/>
          </a:p>
        </p:txBody>
      </p:sp>
      <p:sp>
        <p:nvSpPr>
          <p:cNvPr id="64" name="Text 62"/>
          <p:cNvSpPr/>
          <p:nvPr/>
        </p:nvSpPr>
        <p:spPr>
          <a:xfrm>
            <a:off x="4727448" y="20299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₹487–619</a:t>
            </a:r>
            <a:endParaRPr lang="en-US" sz="850"/>
          </a:p>
        </p:txBody>
      </p:sp>
      <p:sp>
        <p:nvSpPr>
          <p:cNvPr id="65" name="Shape 63"/>
          <p:cNvSpPr/>
          <p:nvPr/>
        </p:nvSpPr>
        <p:spPr>
          <a:xfrm>
            <a:off x="4681728" y="2267712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727448" y="2295144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750"/>
          </a:p>
        </p:txBody>
      </p:sp>
      <p:sp>
        <p:nvSpPr>
          <p:cNvPr id="67" name="Text 65"/>
          <p:cNvSpPr/>
          <p:nvPr/>
        </p:nvSpPr>
        <p:spPr>
          <a:xfrm>
            <a:off x="4727448" y="2450592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min</a:t>
            </a:r>
            <a:endParaRPr lang="en-US" sz="850"/>
          </a:p>
        </p:txBody>
      </p:sp>
      <p:sp>
        <p:nvSpPr>
          <p:cNvPr id="68" name="Shape 66"/>
          <p:cNvSpPr/>
          <p:nvPr/>
        </p:nvSpPr>
        <p:spPr>
          <a:xfrm>
            <a:off x="4681728" y="2688336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727448" y="2715768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750"/>
          </a:p>
        </p:txBody>
      </p:sp>
      <p:sp>
        <p:nvSpPr>
          <p:cNvPr id="70" name="Text 68"/>
          <p:cNvSpPr/>
          <p:nvPr/>
        </p:nvSpPr>
        <p:spPr>
          <a:xfrm>
            <a:off x="4727448" y="2871216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580+ cities</a:t>
            </a:r>
            <a:endParaRPr lang="en-US" sz="850"/>
          </a:p>
        </p:txBody>
      </p:sp>
      <p:sp>
        <p:nvSpPr>
          <p:cNvPr id="71" name="Shape 69"/>
          <p:cNvSpPr/>
          <p:nvPr/>
        </p:nvSpPr>
        <p:spPr>
          <a:xfrm>
            <a:off x="4681728" y="3108960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727448" y="313639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750"/>
          </a:p>
        </p:txBody>
      </p:sp>
      <p:sp>
        <p:nvSpPr>
          <p:cNvPr id="73" name="Text 71"/>
          <p:cNvSpPr/>
          <p:nvPr/>
        </p:nvSpPr>
        <p:spPr>
          <a:xfrm>
            <a:off x="4727448" y="3291840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/ Cluttered</a:t>
            </a:r>
            <a:endParaRPr lang="en-US" sz="850"/>
          </a:p>
        </p:txBody>
      </p:sp>
      <p:sp>
        <p:nvSpPr>
          <p:cNvPr id="74" name="Shape 72"/>
          <p:cNvSpPr/>
          <p:nvPr/>
        </p:nvSpPr>
        <p:spPr>
          <a:xfrm>
            <a:off x="4681728" y="3529584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727448" y="3557016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750"/>
          </a:p>
        </p:txBody>
      </p:sp>
      <p:sp>
        <p:nvSpPr>
          <p:cNvPr id="76" name="Text 74"/>
          <p:cNvSpPr/>
          <p:nvPr/>
        </p:nvSpPr>
        <p:spPr>
          <a:xfrm>
            <a:off x="4727448" y="3712464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One</a:t>
            </a:r>
            <a:endParaRPr lang="en-US" sz="850"/>
          </a:p>
        </p:txBody>
      </p:sp>
      <p:sp>
        <p:nvSpPr>
          <p:cNvPr id="77" name="Shape 75"/>
          <p:cNvSpPr/>
          <p:nvPr/>
        </p:nvSpPr>
        <p:spPr>
          <a:xfrm>
            <a:off x="4608576" y="4160520"/>
            <a:ext cx="2084832" cy="7132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681728" y="4178808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</a:t>
            </a:r>
            <a:endParaRPr lang="en-US" sz="700"/>
          </a:p>
        </p:txBody>
      </p:sp>
      <p:sp>
        <p:nvSpPr>
          <p:cNvPr id="79" name="Text 77"/>
          <p:cNvSpPr/>
          <p:nvPr/>
        </p:nvSpPr>
        <p:spPr>
          <a:xfrm>
            <a:off x="4681728" y="435254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rider fleet (500K+), Swiggy Bolt 10-min tier</a:t>
            </a:r>
            <a:endParaRPr lang="en-US" sz="750"/>
          </a:p>
        </p:txBody>
      </p:sp>
      <p:sp>
        <p:nvSpPr>
          <p:cNvPr id="80" name="Shape 78"/>
          <p:cNvSpPr/>
          <p:nvPr/>
        </p:nvSpPr>
        <p:spPr>
          <a:xfrm>
            <a:off x="6830568" y="804672"/>
            <a:ext cx="2084832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830568" y="804672"/>
            <a:ext cx="2084832" cy="6217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903720" y="850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JIOMART</a:t>
            </a:r>
            <a:endParaRPr lang="en-US" sz="1100"/>
          </a:p>
        </p:txBody>
      </p:sp>
      <p:sp>
        <p:nvSpPr>
          <p:cNvPr id="83" name="Text 81"/>
          <p:cNvSpPr/>
          <p:nvPr/>
        </p:nvSpPr>
        <p:spPr>
          <a:xfrm>
            <a:off x="6903720" y="118872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</a:t>
            </a:r>
            <a:endParaRPr lang="en-US" sz="850"/>
          </a:p>
        </p:txBody>
      </p:sp>
      <p:sp>
        <p:nvSpPr>
          <p:cNvPr id="84" name="Shape 82"/>
          <p:cNvSpPr/>
          <p:nvPr/>
        </p:nvSpPr>
        <p:spPr>
          <a:xfrm>
            <a:off x="6903720" y="1499616"/>
            <a:ext cx="1938528" cy="27432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903720" y="14996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Share: #2 by orders</a:t>
            </a:r>
            <a:endParaRPr lang="en-US" sz="850"/>
          </a:p>
        </p:txBody>
      </p:sp>
      <p:sp>
        <p:nvSpPr>
          <p:cNvPr id="86" name="Shape 84"/>
          <p:cNvSpPr/>
          <p:nvPr/>
        </p:nvSpPr>
        <p:spPr>
          <a:xfrm>
            <a:off x="6903720" y="1847088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949440" y="1874520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</a:t>
            </a:r>
            <a:endParaRPr lang="en-US" sz="750"/>
          </a:p>
        </p:txBody>
      </p:sp>
      <p:sp>
        <p:nvSpPr>
          <p:cNvPr id="88" name="Text 86"/>
          <p:cNvSpPr/>
          <p:nvPr/>
        </p:nvSpPr>
        <p:spPr>
          <a:xfrm>
            <a:off x="6949440" y="2029968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/>
          </a:p>
        </p:txBody>
      </p:sp>
      <p:sp>
        <p:nvSpPr>
          <p:cNvPr id="89" name="Shape 87"/>
          <p:cNvSpPr/>
          <p:nvPr/>
        </p:nvSpPr>
        <p:spPr>
          <a:xfrm>
            <a:off x="6903720" y="2267712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6949440" y="2295144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750"/>
          </a:p>
        </p:txBody>
      </p:sp>
      <p:sp>
        <p:nvSpPr>
          <p:cNvPr id="91" name="Text 89"/>
          <p:cNvSpPr/>
          <p:nvPr/>
        </p:nvSpPr>
        <p:spPr>
          <a:xfrm>
            <a:off x="6949440" y="2450592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/ Sched.</a:t>
            </a:r>
            <a:endParaRPr lang="en-US" sz="850"/>
          </a:p>
        </p:txBody>
      </p:sp>
      <p:sp>
        <p:nvSpPr>
          <p:cNvPr id="92" name="Shape 90"/>
          <p:cNvSpPr/>
          <p:nvPr/>
        </p:nvSpPr>
        <p:spPr>
          <a:xfrm>
            <a:off x="6903720" y="2688336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6949440" y="2715768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750"/>
          </a:p>
        </p:txBody>
      </p:sp>
      <p:sp>
        <p:nvSpPr>
          <p:cNvPr id="94" name="Text 92"/>
          <p:cNvSpPr/>
          <p:nvPr/>
        </p:nvSpPr>
        <p:spPr>
          <a:xfrm>
            <a:off x="6949440" y="2871216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cities</a:t>
            </a:r>
            <a:endParaRPr lang="en-US" sz="850"/>
          </a:p>
        </p:txBody>
      </p:sp>
      <p:sp>
        <p:nvSpPr>
          <p:cNvPr id="95" name="Shape 93"/>
          <p:cNvSpPr/>
          <p:nvPr/>
        </p:nvSpPr>
        <p:spPr>
          <a:xfrm>
            <a:off x="6903720" y="3108960"/>
            <a:ext cx="1938528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6949440" y="313639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750"/>
          </a:p>
        </p:txBody>
      </p:sp>
      <p:sp>
        <p:nvSpPr>
          <p:cNvPr id="97" name="Text 95"/>
          <p:cNvSpPr/>
          <p:nvPr/>
        </p:nvSpPr>
        <p:spPr>
          <a:xfrm>
            <a:off x="6949440" y="3291840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/ Omni</a:t>
            </a:r>
            <a:endParaRPr lang="en-US" sz="850"/>
          </a:p>
        </p:txBody>
      </p:sp>
      <p:sp>
        <p:nvSpPr>
          <p:cNvPr id="98" name="Shape 96"/>
          <p:cNvSpPr/>
          <p:nvPr/>
        </p:nvSpPr>
        <p:spPr>
          <a:xfrm>
            <a:off x="6903720" y="3529584"/>
            <a:ext cx="1938528" cy="37490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6949440" y="3557016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750"/>
          </a:p>
        </p:txBody>
      </p:sp>
      <p:sp>
        <p:nvSpPr>
          <p:cNvPr id="100" name="Text 98"/>
          <p:cNvSpPr/>
          <p:nvPr/>
        </p:nvSpPr>
        <p:spPr>
          <a:xfrm>
            <a:off x="6949440" y="3712464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Reliance One</a:t>
            </a:r>
            <a:endParaRPr lang="en-US" sz="850"/>
          </a:p>
        </p:txBody>
      </p:sp>
      <p:sp>
        <p:nvSpPr>
          <p:cNvPr id="101" name="Shape 99"/>
          <p:cNvSpPr/>
          <p:nvPr/>
        </p:nvSpPr>
        <p:spPr>
          <a:xfrm>
            <a:off x="6830568" y="4160520"/>
            <a:ext cx="2084832" cy="7132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6903720" y="4178808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EDGE</a:t>
            </a:r>
            <a:endParaRPr lang="en-US" sz="700"/>
          </a:p>
        </p:txBody>
      </p:sp>
      <p:sp>
        <p:nvSpPr>
          <p:cNvPr id="103" name="Text 101"/>
          <p:cNvSpPr/>
          <p:nvPr/>
        </p:nvSpPr>
        <p:spPr>
          <a:xfrm>
            <a:off x="6903720" y="435254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Widest reach, WhatsApp ordering, 19,000+ stores</a:t>
            </a:r>
            <a:endParaRPr lang="en-US" sz="750"/>
          </a:p>
        </p:txBody>
      </p:sp>
      <p:sp>
        <p:nvSpPr>
          <p:cNvPr id="104" name="Shape 10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estimates: RedSeer, CIIM, Bain &amp; Company (2025)  ·  AOV and delivery benchmarks: Industry reports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PERSONAS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321040" y="548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4251960" cy="41422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4251960" cy="73152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</a:rPr>
              <a:t>💼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914400" y="859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Rahul, 27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14400" y="1152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Rushed Professional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65760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user</a:t>
            </a:r>
            <a:endParaRPr lang="en-US" sz="750"/>
          </a:p>
        </p:txBody>
      </p:sp>
      <p:sp>
        <p:nvSpPr>
          <p:cNvPr id="14" name="Shape 12"/>
          <p:cNvSpPr/>
          <p:nvPr/>
        </p:nvSpPr>
        <p:spPr>
          <a:xfrm>
            <a:off x="1938528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38528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AOV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365760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Single-item orders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1938528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38528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churn risk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365760" y="2066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65760" y="2304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Opens app for one item — never browses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365760" y="25968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Switches apps instantly if item is out of stock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365760" y="28895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Search fails on minor typos → gives up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365760" y="31821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No feature pulls him back between orders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365760" y="3511296"/>
            <a:ext cx="3977640" cy="56692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511296"/>
            <a:ext cx="54864" cy="566928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" y="354787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just need my oat milk. Just let me find it and pay."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AOV Impact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36576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Rarely crosses ₹300 per order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240030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Retention Risk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240030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Very High risk. Zero emotional attachment to any app.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4709160" y="749808"/>
            <a:ext cx="4251960" cy="41422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09160" y="749808"/>
            <a:ext cx="4251960" cy="73152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4632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</a:rPr>
              <a:t>🏠</a:t>
            </a:r>
            <a:endParaRPr lang="en-US" sz="2600"/>
          </a:p>
        </p:txBody>
      </p:sp>
      <p:sp>
        <p:nvSpPr>
          <p:cNvPr id="35" name="Text 33"/>
          <p:cNvSpPr/>
          <p:nvPr/>
        </p:nvSpPr>
        <p:spPr>
          <a:xfrm>
            <a:off x="5394960" y="859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Priya, 34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5394960" y="1152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Household Manager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846320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19088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19088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AOV potential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46320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</a:t>
            </a: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419088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19088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46320" y="2066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4846320" y="2304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Re-searches the same 20 items every single week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4846320" y="25968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Coupon fails silently at checkout after filling cart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4846320" y="28895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Homepage isn't personalised to her family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>
          <a:xfrm>
            <a:off x="4846320" y="31821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No list-building or 'save favourites' feature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4846320" y="3511296"/>
            <a:ext cx="3977640" cy="56692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46320" y="3511296"/>
            <a:ext cx="54864" cy="566928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65192" y="354787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 I search 'Aashirvaad atta 5kg' every week? I've ordered it 40 times."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484632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AOV Impact</a:t>
            </a:r>
            <a:endParaRPr lang="en-US" sz="750"/>
          </a:p>
        </p:txBody>
      </p:sp>
      <p:sp>
        <p:nvSpPr>
          <p:cNvPr id="54" name="Text 52"/>
          <p:cNvSpPr/>
          <p:nvPr/>
        </p:nvSpPr>
        <p:spPr>
          <a:xfrm>
            <a:off x="484632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Would jump from ₹800 → ₹1,500+ with a prompt discovery of 'My Weekly or Periodic’ needs</a:t>
            </a:r>
            <a:endParaRPr lang="en-US" sz="750"/>
          </a:p>
        </p:txBody>
      </p:sp>
      <p:sp>
        <p:nvSpPr>
          <p:cNvPr id="55" name="Text 53"/>
          <p:cNvSpPr/>
          <p:nvPr/>
        </p:nvSpPr>
        <p:spPr>
          <a:xfrm>
            <a:off x="688086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Retention Risk</a:t>
            </a:r>
            <a:endParaRPr lang="en-US" sz="750"/>
          </a:p>
        </p:txBody>
      </p:sp>
      <p:sp>
        <p:nvSpPr>
          <p:cNvPr id="56" name="Text 54"/>
          <p:cNvSpPr/>
          <p:nvPr/>
        </p:nvSpPr>
        <p:spPr>
          <a:xfrm>
            <a:off x="688086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Medium. Loyal if app saves time. Churns if it wastes it.</a:t>
            </a:r>
            <a:endParaRPr lang="en-US" sz="75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primary user research · Usability testing sessions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PERSONAS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4251960" cy="41422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4251960" cy="73152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</a:rPr>
              <a:t>🏷️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914400" y="859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Arjun, 22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914400" y="1152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 Hunter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65760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Price-driven</a:t>
            </a:r>
            <a:endParaRPr lang="en-US" sz="750"/>
          </a:p>
        </p:txBody>
      </p:sp>
      <p:sp>
        <p:nvSpPr>
          <p:cNvPr id="14" name="Shape 12"/>
          <p:cNvSpPr/>
          <p:nvPr/>
        </p:nvSpPr>
        <p:spPr>
          <a:xfrm>
            <a:off x="1938528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38528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Multi-app switcher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365760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buyer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1938528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38528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churn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365760" y="2066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65760" y="2304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Opens 2–3 apps to compare deals before every order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365760" y="25968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Offer terms hidden — discount disappears at checkout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365760" y="28895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Adds random items just to hit the free-delivery threshold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365760" y="31821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No loyalty benefit keeps him on one platform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365760" y="3511296"/>
            <a:ext cx="3977640" cy="56692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511296"/>
            <a:ext cx="54864" cy="566928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" y="354787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checked Blinkit, Zepto and Instamart before ordering chips. Zepto had 30% off. So I went there."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AOV Impact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36576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Spends more when bundle deals are clearly visible upfront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240030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Retention Risk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240030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Very High risk. A ₹30 saving will send him to a competitor.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4663442" y="749808"/>
            <a:ext cx="4251960" cy="41422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09160" y="749808"/>
            <a:ext cx="4251960" cy="73152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94960" y="859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Suresh, 33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5394960" y="1152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Responsible Son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4846320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User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19088" y="1435608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19088" y="1435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750" b="1">
                <a:solidFill>
                  <a:schemeClr val="bg1"/>
                </a:solidFill>
              </a:rPr>
              <a:t>Tech-savvy</a:t>
            </a:r>
            <a:endParaRPr lang="en-US" sz="750" b="1">
              <a:solidFill>
                <a:schemeClr val="bg1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46320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419088" y="1728216"/>
            <a:ext cx="1463040" cy="237744"/>
          </a:xfrm>
          <a:prstGeom prst="roundRect">
            <a:avLst>
              <a:gd name="adj" fmla="val 23077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19088" y="1728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Untapped</a:t>
            </a: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Lift</a:t>
            </a:r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46320" y="2066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4846320" y="23042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br>
              <a:rPr lang="en-US" sz="850">
                <a:latin typeface="Arial" pitchFamily="34" charset="0"/>
                <a:cs typeface="Arial" pitchFamily="34" charset="-120"/>
              </a:rPr>
            </a:b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850">
                <a:latin typeface="Arial" pitchFamily="34" charset="0"/>
                <a:cs typeface="Arial" pitchFamily="34" charset="-120"/>
              </a:rPr>
              <a:t>Gets interrupted mid-work every time his father tries to place an order</a:t>
            </a:r>
          </a:p>
        </p:txBody>
      </p:sp>
      <p:sp>
        <p:nvSpPr>
          <p:cNvPr id="47" name="Text 45"/>
          <p:cNvSpPr/>
          <p:nvPr/>
        </p:nvSpPr>
        <p:spPr>
          <a:xfrm>
            <a:off x="4846320" y="2596896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latin typeface="Arial" pitchFamily="34" charset="0"/>
                <a:cs typeface="Arial" pitchFamily="34" charset="-120"/>
              </a:rPr>
              <a:t>▸ Has to walk his father through every step over call</a:t>
            </a:r>
          </a:p>
        </p:txBody>
      </p:sp>
      <p:sp>
        <p:nvSpPr>
          <p:cNvPr id="48" name="Text 46"/>
          <p:cNvSpPr/>
          <p:nvPr/>
        </p:nvSpPr>
        <p:spPr>
          <a:xfrm>
            <a:off x="4846320" y="28895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latin typeface="Arial" pitchFamily="34" charset="0"/>
                <a:ea typeface="Arial" pitchFamily="34" charset="-122"/>
                <a:cs typeface="Arial" pitchFamily="34" charset="-120"/>
              </a:rPr>
              <a:t>▸  Doesn't know if the parent successfully placed the tight order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4846320" y="3511296"/>
            <a:ext cx="3977640" cy="56692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46320" y="3511296"/>
            <a:ext cx="54864" cy="566928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50202" y="3540377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“My father calls me every time he wants to order something. Every. Single. Time. I'll be in a meeting and get a WhatsApp — 'beta, did I press the right button?' If I could just set up his grocery list once, and he taps what he needs, and I get one notification to approve and pay — that's it.”</a:t>
            </a:r>
          </a:p>
        </p:txBody>
      </p:sp>
      <p:sp>
        <p:nvSpPr>
          <p:cNvPr id="53" name="Text 51"/>
          <p:cNvSpPr/>
          <p:nvPr/>
        </p:nvSpPr>
        <p:spPr>
          <a:xfrm>
            <a:off x="484632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AOV Impact</a:t>
            </a:r>
            <a:endParaRPr lang="en-US" sz="750"/>
          </a:p>
        </p:txBody>
      </p:sp>
      <p:sp>
        <p:nvSpPr>
          <p:cNvPr id="54" name="Text 52"/>
          <p:cNvSpPr/>
          <p:nvPr/>
        </p:nvSpPr>
        <p:spPr>
          <a:xfrm>
            <a:off x="484632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Would order essentials in bulk repeatedly consistently if the process is easy</a:t>
            </a:r>
            <a:endParaRPr lang="en-US" sz="750"/>
          </a:p>
        </p:txBody>
      </p:sp>
      <p:sp>
        <p:nvSpPr>
          <p:cNvPr id="55" name="Text 53"/>
          <p:cNvSpPr/>
          <p:nvPr/>
        </p:nvSpPr>
        <p:spPr>
          <a:xfrm>
            <a:off x="6880860" y="4160520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Retention Risk</a:t>
            </a:r>
            <a:endParaRPr lang="en-US" sz="750"/>
          </a:p>
        </p:txBody>
      </p:sp>
      <p:sp>
        <p:nvSpPr>
          <p:cNvPr id="56" name="Text 54"/>
          <p:cNvSpPr/>
          <p:nvPr/>
        </p:nvSpPr>
        <p:spPr>
          <a:xfrm>
            <a:off x="6880860" y="4361688"/>
            <a:ext cx="20345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latin typeface="Arial" pitchFamily="34" charset="0"/>
                <a:ea typeface="Arial" pitchFamily="34" charset="-122"/>
                <a:cs typeface="Arial" pitchFamily="34" charset="-120"/>
              </a:rPr>
              <a:t>Never acquired in the first place — completely untapped pain point</a:t>
            </a:r>
            <a:endParaRPr lang="en-US" sz="75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primary user research · Usability testing sessions </a:t>
            </a:r>
            <a:endParaRPr lang="en-US" sz="800"/>
          </a:p>
        </p:txBody>
      </p:sp>
      <p:pic>
        <p:nvPicPr>
          <p:cNvPr id="6" name="Graphic 5" descr="Man with cane with solid fill">
            <a:extLst>
              <a:ext uri="{FF2B5EF4-FFF2-40B4-BE49-F238E27FC236}">
                <a16:creationId xmlns:a16="http://schemas.microsoft.com/office/drawing/2014/main" id="{455183BA-325B-A038-8B16-04CEF53BF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9182" y="855676"/>
            <a:ext cx="48006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F4D77-224F-E283-F4B1-F21DE0ED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AB5E9B-B6F3-2F0D-CD95-8B8427293CB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180FA9-906B-BD29-7123-3A545E129C2E}"/>
              </a:ext>
            </a:extLst>
          </p:cNvPr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 PRIORITIZATION</a:t>
            </a:r>
            <a:endParaRPr lang="en-US" sz="180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E08A9353-E6BB-1239-1A4B-BEBE10F38C2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DF52D669-D6B3-7C90-4264-6390EE19F22B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primary user research · Usability testing sessions </a:t>
            </a:r>
            <a:endParaRPr lang="en-US" sz="800"/>
          </a:p>
        </p:txBody>
      </p:sp>
      <p:sp>
        <p:nvSpPr>
          <p:cNvPr id="5" name="Heptagon 4">
            <a:extLst>
              <a:ext uri="{FF2B5EF4-FFF2-40B4-BE49-F238E27FC236}">
                <a16:creationId xmlns:a16="http://schemas.microsoft.com/office/drawing/2014/main" id="{60DF1055-A819-4CFE-7E05-6D73F1D12777}"/>
              </a:ext>
            </a:extLst>
          </p:cNvPr>
          <p:cNvSpPr/>
          <p:nvPr/>
        </p:nvSpPr>
        <p:spPr>
          <a:xfrm>
            <a:off x="226689" y="1086266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D0A396-9446-4DDB-5E7C-4A721A7B2FF1}"/>
              </a:ext>
            </a:extLst>
          </p:cNvPr>
          <p:cNvSpPr/>
          <p:nvPr/>
        </p:nvSpPr>
        <p:spPr>
          <a:xfrm>
            <a:off x="519875" y="1006651"/>
            <a:ext cx="3669409" cy="3432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eptagon 5">
            <a:extLst>
              <a:ext uri="{FF2B5EF4-FFF2-40B4-BE49-F238E27FC236}">
                <a16:creationId xmlns:a16="http://schemas.microsoft.com/office/drawing/2014/main" id="{5AC818EA-F542-AB22-C148-C6627B6C61D4}"/>
              </a:ext>
            </a:extLst>
          </p:cNvPr>
          <p:cNvSpPr/>
          <p:nvPr/>
        </p:nvSpPr>
        <p:spPr>
          <a:xfrm>
            <a:off x="1684853" y="2031102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875A6F7-5369-2BB0-516A-7A6C7050D19F}"/>
              </a:ext>
            </a:extLst>
          </p:cNvPr>
          <p:cNvSpPr/>
          <p:nvPr/>
        </p:nvSpPr>
        <p:spPr>
          <a:xfrm>
            <a:off x="1981201" y="1960538"/>
            <a:ext cx="3669409" cy="34322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Heptagon 58">
            <a:extLst>
              <a:ext uri="{FF2B5EF4-FFF2-40B4-BE49-F238E27FC236}">
                <a16:creationId xmlns:a16="http://schemas.microsoft.com/office/drawing/2014/main" id="{37F71BE1-571B-8B80-8596-37C14F9D2D5E}"/>
              </a:ext>
            </a:extLst>
          </p:cNvPr>
          <p:cNvSpPr/>
          <p:nvPr/>
        </p:nvSpPr>
        <p:spPr>
          <a:xfrm>
            <a:off x="3097427" y="2973577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AADFBAF-C37B-38C5-D9F8-3FBDEE0ADDAE}"/>
              </a:ext>
            </a:extLst>
          </p:cNvPr>
          <p:cNvSpPr/>
          <p:nvPr/>
        </p:nvSpPr>
        <p:spPr>
          <a:xfrm>
            <a:off x="3400362" y="2887838"/>
            <a:ext cx="3669409" cy="343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Heptagon 59">
            <a:extLst>
              <a:ext uri="{FF2B5EF4-FFF2-40B4-BE49-F238E27FC236}">
                <a16:creationId xmlns:a16="http://schemas.microsoft.com/office/drawing/2014/main" id="{1D4A1839-1A14-E49E-E41B-7292ABF95037}"/>
              </a:ext>
            </a:extLst>
          </p:cNvPr>
          <p:cNvSpPr/>
          <p:nvPr/>
        </p:nvSpPr>
        <p:spPr>
          <a:xfrm>
            <a:off x="4276511" y="3949164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487B5E-EE07-3BD8-103D-593C11E5A6E2}"/>
              </a:ext>
            </a:extLst>
          </p:cNvPr>
          <p:cNvSpPr/>
          <p:nvPr/>
        </p:nvSpPr>
        <p:spPr>
          <a:xfrm>
            <a:off x="4572000" y="3842938"/>
            <a:ext cx="3669409" cy="3432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1411BCD3-375B-665B-5BC2-406744A5B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1" y="801364"/>
            <a:ext cx="3290418" cy="49612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264C8453-43EB-488D-97BF-AFF77AF12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066" y="3623703"/>
            <a:ext cx="3322570" cy="47631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A209774-43E8-1CCF-A590-D82892B28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112" y="1796015"/>
            <a:ext cx="3322697" cy="444953"/>
          </a:xfrm>
          <a:prstGeom prst="rect">
            <a:avLst/>
          </a:prstGeom>
        </p:spPr>
      </p:pic>
      <p:sp>
        <p:nvSpPr>
          <p:cNvPr id="77" name="Text 19">
            <a:extLst>
              <a:ext uri="{FF2B5EF4-FFF2-40B4-BE49-F238E27FC236}">
                <a16:creationId xmlns:a16="http://schemas.microsoft.com/office/drawing/2014/main" id="{36F1170D-D813-D853-2C02-7D7E7EF0E5E0}"/>
              </a:ext>
            </a:extLst>
          </p:cNvPr>
          <p:cNvSpPr/>
          <p:nvPr/>
        </p:nvSpPr>
        <p:spPr>
          <a:xfrm>
            <a:off x="680175" y="1301925"/>
            <a:ext cx="35305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Would order essentials in bulk repeatedly if the process is easy</a:t>
            </a:r>
            <a:endParaRPr lang="en-US" sz="800" b="1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501AE47-1715-B3CF-D81B-02DBAECB6B3D}"/>
              </a:ext>
            </a:extLst>
          </p:cNvPr>
          <p:cNvGrpSpPr/>
          <p:nvPr/>
        </p:nvGrpSpPr>
        <p:grpSpPr>
          <a:xfrm>
            <a:off x="3524773" y="2693989"/>
            <a:ext cx="3429876" cy="825710"/>
            <a:chOff x="2081761" y="1770092"/>
            <a:chExt cx="3429876" cy="82571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41902E1-501B-DAAA-888A-F3B094DF1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81761" y="1770092"/>
              <a:ext cx="3277223" cy="466549"/>
            </a:xfrm>
            <a:prstGeom prst="rect">
              <a:avLst/>
            </a:prstGeom>
          </p:spPr>
        </p:pic>
        <p:sp>
          <p:nvSpPr>
            <p:cNvPr id="78" name="Text 19">
              <a:extLst>
                <a:ext uri="{FF2B5EF4-FFF2-40B4-BE49-F238E27FC236}">
                  <a16:creationId xmlns:a16="http://schemas.microsoft.com/office/drawing/2014/main" id="{209B6137-E1D9-8BD7-E561-911968E26825}"/>
                </a:ext>
              </a:extLst>
            </p:cNvPr>
            <p:cNvSpPr/>
            <p:nvPr/>
          </p:nvSpPr>
          <p:spPr>
            <a:xfrm>
              <a:off x="2353180" y="2339770"/>
              <a:ext cx="3158457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b="1">
                  <a:latin typeface="Arial" pitchFamily="34" charset="0"/>
                  <a:ea typeface="Arial" pitchFamily="34" charset="-122"/>
                  <a:cs typeface="Arial" pitchFamily="34" charset="-120"/>
                </a:rPr>
                <a:t>Would jump from ₹800 → ₹1,500+ with a prompt discovery of 'My Weekly or Periodic’ needs</a:t>
              </a:r>
              <a:endParaRPr lang="en-US" sz="800" b="1"/>
            </a:p>
          </p:txBody>
        </p:sp>
      </p:grpSp>
      <p:sp>
        <p:nvSpPr>
          <p:cNvPr id="80" name="Text 19">
            <a:extLst>
              <a:ext uri="{FF2B5EF4-FFF2-40B4-BE49-F238E27FC236}">
                <a16:creationId xmlns:a16="http://schemas.microsoft.com/office/drawing/2014/main" id="{36C2AA59-E97C-34B6-2B9C-E664DD120C15}"/>
              </a:ext>
            </a:extLst>
          </p:cNvPr>
          <p:cNvSpPr/>
          <p:nvPr/>
        </p:nvSpPr>
        <p:spPr>
          <a:xfrm>
            <a:off x="2307543" y="2255800"/>
            <a:ext cx="30167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Spends more when bundled deals are clearly visible upfront</a:t>
            </a:r>
            <a:endParaRPr lang="en-US" sz="800" b="1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25CABA19-5EB7-77E6-DD19-02271BDB000A}"/>
              </a:ext>
            </a:extLst>
          </p:cNvPr>
          <p:cNvSpPr/>
          <p:nvPr/>
        </p:nvSpPr>
        <p:spPr>
          <a:xfrm>
            <a:off x="5034020" y="4127799"/>
            <a:ext cx="2664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latin typeface="Arial" pitchFamily="34" charset="0"/>
                <a:cs typeface="Arial" pitchFamily="34" charset="-120"/>
              </a:rPr>
              <a:t>Very High risk. Zero emotional attachment to any app.</a:t>
            </a:r>
          </a:p>
        </p:txBody>
      </p:sp>
    </p:spTree>
    <p:extLst>
      <p:ext uri="{BB962C8B-B14F-4D97-AF65-F5344CB8AC3E}">
        <p14:creationId xmlns:p14="http://schemas.microsoft.com/office/powerpoint/2010/main" val="56405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&amp; SECONDARY RESEARCH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0" y="722376"/>
            <a:ext cx="73152" cy="4169664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1168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F9C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RESEARCH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201168" y="1078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>
                <a:latin typeface="Arial" pitchFamily="34" charset="0"/>
                <a:ea typeface="Arial" pitchFamily="34" charset="-122"/>
                <a:cs typeface="Arial" pitchFamily="34" charset="-120"/>
              </a:rPr>
              <a:t>User Survey  ·  n=12 respondents</a:t>
            </a:r>
            <a:endParaRPr lang="en-US" sz="850" b="1"/>
          </a:p>
        </p:txBody>
      </p:sp>
      <p:sp>
        <p:nvSpPr>
          <p:cNvPr id="9" name="Shape 7"/>
          <p:cNvSpPr/>
          <p:nvPr/>
        </p:nvSpPr>
        <p:spPr>
          <a:xfrm>
            <a:off x="164592" y="1344168"/>
            <a:ext cx="4206240" cy="46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10312" y="1490472"/>
            <a:ext cx="155448" cy="155448"/>
          </a:xfrm>
          <a:prstGeom prst="ellipse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380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users open the app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457200" y="15910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Reactive triggers — 'ran out of milk' dominates over planned buying</a:t>
            </a:r>
            <a:endParaRPr lang="en-US" sz="800" b="1"/>
          </a:p>
        </p:txBody>
      </p:sp>
      <p:sp>
        <p:nvSpPr>
          <p:cNvPr id="13" name="Shape 11"/>
          <p:cNvSpPr/>
          <p:nvPr/>
        </p:nvSpPr>
        <p:spPr>
          <a:xfrm>
            <a:off x="164592" y="1851660"/>
            <a:ext cx="4206240" cy="46634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10312" y="1997964"/>
            <a:ext cx="155448" cy="155448"/>
          </a:xfrm>
          <a:prstGeom prst="ellipse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18882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action on search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457200" y="20985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Most users type directly into search; browse/category is secondary</a:t>
            </a:r>
            <a:endParaRPr lang="en-US" sz="800" b="1"/>
          </a:p>
        </p:txBody>
      </p:sp>
      <p:sp>
        <p:nvSpPr>
          <p:cNvPr id="17" name="Shape 15"/>
          <p:cNvSpPr/>
          <p:nvPr/>
        </p:nvSpPr>
        <p:spPr>
          <a:xfrm>
            <a:off x="164592" y="2359152"/>
            <a:ext cx="4206240" cy="46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10312" y="2505456"/>
            <a:ext cx="155448" cy="155448"/>
          </a:xfrm>
          <a:prstGeom prst="ellipse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23957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friction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Majority reported difficulty finding products when results don't match</a:t>
            </a:r>
            <a:endParaRPr lang="en-US" sz="800" b="1"/>
          </a:p>
        </p:txBody>
      </p:sp>
      <p:sp>
        <p:nvSpPr>
          <p:cNvPr id="21" name="Shape 19"/>
          <p:cNvSpPr/>
          <p:nvPr/>
        </p:nvSpPr>
        <p:spPr>
          <a:xfrm>
            <a:off x="164592" y="2866644"/>
            <a:ext cx="4206240" cy="46634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10312" y="3012948"/>
            <a:ext cx="155448" cy="155448"/>
          </a:xfrm>
          <a:prstGeom prst="ellipse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9032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abandonment drivers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457200" y="31135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Price sensitivity &amp; delivery fees are top cart-blockers</a:t>
            </a:r>
            <a:endParaRPr lang="en-US" sz="800" b="1"/>
          </a:p>
        </p:txBody>
      </p:sp>
      <p:sp>
        <p:nvSpPr>
          <p:cNvPr id="25" name="Shape 23"/>
          <p:cNvSpPr/>
          <p:nvPr/>
        </p:nvSpPr>
        <p:spPr>
          <a:xfrm>
            <a:off x="164592" y="3374136"/>
            <a:ext cx="4206240" cy="46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10312" y="3520440"/>
            <a:ext cx="155448" cy="155448"/>
          </a:xfrm>
          <a:prstGeom prst="ellipse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boosters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457200" y="36210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Free delivery threshold &amp; bundle deals most likely to increase spend</a:t>
            </a:r>
            <a:endParaRPr lang="en-US" sz="800" b="1"/>
          </a:p>
        </p:txBody>
      </p:sp>
      <p:sp>
        <p:nvSpPr>
          <p:cNvPr id="29" name="Shape 27"/>
          <p:cNvSpPr/>
          <p:nvPr/>
        </p:nvSpPr>
        <p:spPr>
          <a:xfrm>
            <a:off x="164592" y="3881628"/>
            <a:ext cx="4206240" cy="466344"/>
          </a:xfrm>
          <a:prstGeom prst="rect">
            <a:avLst/>
          </a:prstGeom>
          <a:solidFill>
            <a:srgbClr val="F2EF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10312" y="4027932"/>
            <a:ext cx="155448" cy="155448"/>
          </a:xfrm>
          <a:prstGeom prst="ellipse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9182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user pain points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457200" y="41285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latin typeface="Arial" pitchFamily="34" charset="0"/>
                <a:ea typeface="Arial" pitchFamily="34" charset="-122"/>
                <a:cs typeface="Arial" pitchFamily="34" charset="-120"/>
              </a:rPr>
              <a:t>Small text, complex navigation &amp; payment flow are key barriers</a:t>
            </a:r>
            <a:endParaRPr lang="en-US" sz="800" b="1"/>
          </a:p>
        </p:txBody>
      </p:sp>
      <p:sp>
        <p:nvSpPr>
          <p:cNvPr id="33" name="Shape 31"/>
          <p:cNvSpPr/>
          <p:nvPr/>
        </p:nvSpPr>
        <p:spPr>
          <a:xfrm>
            <a:off x="4617720" y="722376"/>
            <a:ext cx="73152" cy="4169664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00600" y="822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RESEARCH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4800600" y="10789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analysis · Expert benchmarking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4800600" y="1344168"/>
            <a:ext cx="2039112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00600" y="1344168"/>
            <a:ext cx="2039112" cy="54864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73752" y="14356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</a:rPr>
              <a:t>🔍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5257800" y="14356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Discovery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4873752" y="180136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abandon when search results don't match typed queries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6976872" y="1344168"/>
            <a:ext cx="2039112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976872" y="1344168"/>
            <a:ext cx="2039112" cy="54864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050024" y="14356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</a:rPr>
              <a:t>🛒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7434072" y="14356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Cart Value (AOV)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7050024" y="180136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urgent item triggers — open, buy one, leave</a:t>
            </a:r>
            <a:endParaRPr lang="en-US" sz="800"/>
          </a:p>
        </p:txBody>
      </p:sp>
      <p:sp>
        <p:nvSpPr>
          <p:cNvPr id="46" name="Shape 44"/>
          <p:cNvSpPr/>
          <p:nvPr/>
        </p:nvSpPr>
        <p:spPr>
          <a:xfrm>
            <a:off x="4800600" y="2331720"/>
            <a:ext cx="2039112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800600" y="2331720"/>
            <a:ext cx="2039112" cy="54864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873752" y="24231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</a:rPr>
              <a:t>🔄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5257800" y="24231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Habits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4873752" y="278892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Reactive, not proactive usage. No loyalty loop built in</a:t>
            </a:r>
            <a:endParaRPr lang="en-US" sz="800"/>
          </a:p>
        </p:txBody>
      </p:sp>
      <p:sp>
        <p:nvSpPr>
          <p:cNvPr id="51" name="Shape 49"/>
          <p:cNvSpPr/>
          <p:nvPr/>
        </p:nvSpPr>
        <p:spPr>
          <a:xfrm>
            <a:off x="6976872" y="2331720"/>
            <a:ext cx="2039112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976872" y="2331720"/>
            <a:ext cx="2039112" cy="54864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050024" y="24231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</a:rPr>
              <a:t>💳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7434072" y="24231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Friction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7050024" y="278892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 failures &amp; opaque T&amp;C = key drop-off point</a:t>
            </a:r>
            <a:endParaRPr lang="en-US" sz="800"/>
          </a:p>
        </p:txBody>
      </p:sp>
      <p:sp>
        <p:nvSpPr>
          <p:cNvPr id="56" name="Shape 54"/>
          <p:cNvSpPr/>
          <p:nvPr/>
        </p:nvSpPr>
        <p:spPr>
          <a:xfrm>
            <a:off x="4800600" y="3319272"/>
            <a:ext cx="2039112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800600" y="3319272"/>
            <a:ext cx="2039112" cy="54864"/>
          </a:xfrm>
          <a:prstGeom prst="rect">
            <a:avLst/>
          </a:prstGeom>
          <a:solidFill>
            <a:srgbClr val="F9C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73752" y="34107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</a:rPr>
              <a:t>👴</a:t>
            </a:r>
            <a:endParaRPr lang="en-US" sz="1600"/>
          </a:p>
        </p:txBody>
      </p:sp>
      <p:sp>
        <p:nvSpPr>
          <p:cNvPr id="59" name="Text 57"/>
          <p:cNvSpPr/>
          <p:nvPr/>
        </p:nvSpPr>
        <p:spPr>
          <a:xfrm>
            <a:off x="5257800" y="34107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Proxy Users Ignored</a:t>
            </a:r>
            <a:endParaRPr lang="en-US" sz="900"/>
          </a:p>
        </p:txBody>
      </p:sp>
      <p:sp>
        <p:nvSpPr>
          <p:cNvPr id="60" name="Text 58"/>
          <p:cNvSpPr/>
          <p:nvPr/>
        </p:nvSpPr>
        <p:spPr>
          <a:xfrm>
            <a:off x="4873752" y="377647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55+ users rely on family to order — untapped segment</a:t>
            </a:r>
            <a:endParaRPr lang="en-US" sz="800"/>
          </a:p>
        </p:txBody>
      </p:sp>
      <p:sp>
        <p:nvSpPr>
          <p:cNvPr id="61" name="Shape 59"/>
          <p:cNvSpPr/>
          <p:nvPr/>
        </p:nvSpPr>
        <p:spPr>
          <a:xfrm>
            <a:off x="6976872" y="3319272"/>
            <a:ext cx="2039112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976872" y="3319272"/>
            <a:ext cx="2039112" cy="54864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050024" y="34107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</a:rPr>
              <a:t>📱</a:t>
            </a:r>
            <a:endParaRPr lang="en-US" sz="1600"/>
          </a:p>
        </p:txBody>
      </p:sp>
      <p:sp>
        <p:nvSpPr>
          <p:cNvPr id="64" name="Text 62"/>
          <p:cNvSpPr/>
          <p:nvPr/>
        </p:nvSpPr>
        <p:spPr>
          <a:xfrm>
            <a:off x="7434072" y="34107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Multi-App Switching</a:t>
            </a:r>
            <a:endParaRPr lang="en-US" sz="900"/>
          </a:p>
        </p:txBody>
      </p:sp>
      <p:sp>
        <p:nvSpPr>
          <p:cNvPr id="65" name="Text 63"/>
          <p:cNvSpPr/>
          <p:nvPr/>
        </p:nvSpPr>
        <p:spPr>
          <a:xfrm>
            <a:off x="7050024" y="3776472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switching cost — users flip for best stock or price</a:t>
            </a:r>
            <a:endParaRPr lang="en-US" sz="80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User Survey (n=12)  ·  Secondary: Industry reports, competitive teardowns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69C65-33D1-35AE-DCDF-2A66253B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600E5A-4D41-A161-4705-C37AF2AEFDC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D83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CAA72D-6583-6F15-D9E6-97FCFF17CB53}"/>
              </a:ext>
            </a:extLst>
          </p:cNvPr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FLOW (Placing an Order on Blinkit)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1519A3A-018C-030F-F398-1250D6DB7EE2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A4BB205-75FA-5841-550A-FF5A534395C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>
                <a:solidFill>
                  <a:srgbClr val="666666"/>
                </a:solidFill>
                <a:latin typeface="Arial"/>
                <a:cs typeface="Arial"/>
              </a:rPr>
              <a:t>Based on existing App journey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024D2-CB7E-2091-A868-C8263E43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94" y="698633"/>
            <a:ext cx="7366721" cy="41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3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6D3AC-25DD-4BBF-806F-9E304825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175CF0-2085-DBB7-5931-28369C1B6AB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EDE3B8-562A-857D-E729-996E4A96D7B5}"/>
              </a:ext>
            </a:extLst>
          </p:cNvPr>
          <p:cNvSpPr/>
          <p:nvPr/>
        </p:nvSpPr>
        <p:spPr>
          <a:xfrm>
            <a:off x="32004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OBSERVED USER PAIN POINTS</a:t>
            </a:r>
            <a:endParaRPr lang="en-US" sz="180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0FEDF65-E719-EC2E-82ED-66E2C7B210BE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8C5360CA-CDA5-D048-122D-0AA4407CBFCF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primary user research · Usability testing sessions </a:t>
            </a:r>
            <a:endParaRPr lang="en-US" sz="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412E7-66FE-ED1F-049B-DE3A49AF6C15}"/>
              </a:ext>
            </a:extLst>
          </p:cNvPr>
          <p:cNvSpPr/>
          <p:nvPr/>
        </p:nvSpPr>
        <p:spPr>
          <a:xfrm>
            <a:off x="582049" y="888661"/>
            <a:ext cx="3081130" cy="16774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 b="1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200" b="1">
                <a:solidFill>
                  <a:schemeClr val="tx1"/>
                </a:solidFill>
                <a:ea typeface="Calibri"/>
                <a:cs typeface="Calibri"/>
              </a:rPr>
              <a:t>Browsing categories isn't much helpful — the taxonomy is built around warehouse logic, no thought a person thinks when they're cooking or shopping.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99CE3B-A6B9-C103-B63F-EC7CFECCEE3A}"/>
              </a:ext>
            </a:extLst>
          </p:cNvPr>
          <p:cNvSpPr/>
          <p:nvPr/>
        </p:nvSpPr>
        <p:spPr>
          <a:xfrm>
            <a:off x="4970737" y="888661"/>
            <a:ext cx="3081130" cy="1677462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The barriers are layered: small text and tiny tap targets make navigation Physically difficult;</a:t>
            </a:r>
          </a:p>
          <a:p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Multi-step UPI + OTP flows feel intimidating; </a:t>
            </a:r>
            <a:endParaRPr lang="en-IN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E21479-7B78-4AE6-1851-3718FC9E4475}"/>
              </a:ext>
            </a:extLst>
          </p:cNvPr>
          <p:cNvSpPr/>
          <p:nvPr/>
        </p:nvSpPr>
        <p:spPr>
          <a:xfrm>
            <a:off x="582048" y="2840388"/>
            <a:ext cx="3081130" cy="1796075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Personalization is shallow — "top picks" and "trending near you" feel like filler rather than genuine curation. This directly suppresses both engagement because users who don't see relevant content on the homepage stop scrolling</a:t>
            </a:r>
          </a:p>
          <a:p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3E662B-1169-834E-4860-3A20E0089FC3}"/>
              </a:ext>
            </a:extLst>
          </p:cNvPr>
          <p:cNvSpPr/>
          <p:nvPr/>
        </p:nvSpPr>
        <p:spPr>
          <a:xfrm>
            <a:off x="4970736" y="2840388"/>
            <a:ext cx="3081130" cy="1796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200" b="1">
                <a:solidFill>
                  <a:schemeClr val="tx1"/>
                </a:solidFill>
                <a:ea typeface="Calibri"/>
                <a:cs typeface="Calibri"/>
              </a:rPr>
              <a:t>There's no deep loyalty, no feature or experience that's differentiated enough to keep someone committed. </a:t>
            </a:r>
          </a:p>
          <a:p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3F5EF-262E-1D60-F5E6-7955886E97F0}"/>
              </a:ext>
            </a:extLst>
          </p:cNvPr>
          <p:cNvSpPr txBox="1"/>
          <p:nvPr/>
        </p:nvSpPr>
        <p:spPr>
          <a:xfrm>
            <a:off x="2480094" y="900382"/>
            <a:ext cx="28035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🔍︎</a:t>
            </a:r>
          </a:p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249580-19D4-B7BE-8AAD-3D52AE3BE20B}"/>
              </a:ext>
            </a:extLst>
          </p:cNvPr>
          <p:cNvSpPr/>
          <p:nvPr/>
        </p:nvSpPr>
        <p:spPr>
          <a:xfrm>
            <a:off x="580406" y="887723"/>
            <a:ext cx="2794441" cy="3860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400" b="1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Product Discovery &amp; Search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B9F0C-F55E-AD26-D937-1A5E008C178A}"/>
              </a:ext>
            </a:extLst>
          </p:cNvPr>
          <p:cNvSpPr txBox="1"/>
          <p:nvPr/>
        </p:nvSpPr>
        <p:spPr>
          <a:xfrm>
            <a:off x="582283" y="889599"/>
            <a:ext cx="754812" cy="65711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🔍︎</a:t>
            </a:r>
          </a:p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0DE754-2AB9-4310-16EF-24ED50D62BDD}"/>
              </a:ext>
            </a:extLst>
          </p:cNvPr>
          <p:cNvSpPr/>
          <p:nvPr/>
        </p:nvSpPr>
        <p:spPr>
          <a:xfrm>
            <a:off x="4969095" y="898506"/>
            <a:ext cx="2794441" cy="3860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r"/>
            <a:r>
              <a:rPr lang="en-IN" sz="1400" b="1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Checkout &amp; Payment Friction</a:t>
            </a:r>
            <a:endParaRPr lang="en-IN" sz="140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9396C7-5ED8-9A0B-61FB-9B030F6BE670}"/>
              </a:ext>
            </a:extLst>
          </p:cNvPr>
          <p:cNvSpPr/>
          <p:nvPr/>
        </p:nvSpPr>
        <p:spPr>
          <a:xfrm>
            <a:off x="580406" y="2839449"/>
            <a:ext cx="2794441" cy="3860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r"/>
            <a:r>
              <a:rPr lang="en-IN" sz="1400" b="1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Homepage Relevance</a:t>
            </a:r>
            <a:endParaRPr lang="en-IN" sz="140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7860D7-2B66-3351-F812-488616268B90}"/>
              </a:ext>
            </a:extLst>
          </p:cNvPr>
          <p:cNvSpPr/>
          <p:nvPr/>
        </p:nvSpPr>
        <p:spPr>
          <a:xfrm>
            <a:off x="4969095" y="2839448"/>
            <a:ext cx="2794441" cy="3860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r"/>
            <a:r>
              <a:rPr lang="en-IN" sz="1400" b="1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Multi-App Switching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053A7-EE28-361A-B8D4-EEC9AA68BA81}"/>
              </a:ext>
            </a:extLst>
          </p:cNvPr>
          <p:cNvSpPr txBox="1"/>
          <p:nvPr/>
        </p:nvSpPr>
        <p:spPr>
          <a:xfrm>
            <a:off x="4970972" y="900382"/>
            <a:ext cx="646982" cy="6678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💳︎</a:t>
            </a: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2CAC5C-B4BD-C407-BEFE-CF71D365AA41}"/>
              </a:ext>
            </a:extLst>
          </p:cNvPr>
          <p:cNvSpPr txBox="1"/>
          <p:nvPr/>
        </p:nvSpPr>
        <p:spPr>
          <a:xfrm>
            <a:off x="657764" y="2841326"/>
            <a:ext cx="603850" cy="6678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⌂</a:t>
            </a:r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2596A-7FE7-86D1-FC83-4250CEC119BC}"/>
              </a:ext>
            </a:extLst>
          </p:cNvPr>
          <p:cNvSpPr txBox="1"/>
          <p:nvPr/>
        </p:nvSpPr>
        <p:spPr>
          <a:xfrm>
            <a:off x="4970972" y="2841325"/>
            <a:ext cx="668548" cy="6678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⇄</a:t>
            </a:r>
          </a:p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ECE1DE-3F52-65F5-F8D7-3A046AB8B821}"/>
              </a:ext>
            </a:extLst>
          </p:cNvPr>
          <p:cNvSpPr/>
          <p:nvPr/>
        </p:nvSpPr>
        <p:spPr>
          <a:xfrm>
            <a:off x="6423285" y="786984"/>
            <a:ext cx="1566472" cy="2248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Very High Priority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6DA2DE-DDD8-C702-D56C-B2583BE2D23A}"/>
              </a:ext>
            </a:extLst>
          </p:cNvPr>
          <p:cNvSpPr/>
          <p:nvPr/>
        </p:nvSpPr>
        <p:spPr>
          <a:xfrm>
            <a:off x="6423285" y="2664049"/>
            <a:ext cx="1566472" cy="2248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High Priority</a:t>
            </a:r>
          </a:p>
        </p:txBody>
      </p:sp>
    </p:spTree>
    <p:extLst>
      <p:ext uri="{BB962C8B-B14F-4D97-AF65-F5344CB8AC3E}">
        <p14:creationId xmlns:p14="http://schemas.microsoft.com/office/powerpoint/2010/main" val="2554845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54824-CCD0-0523-492C-F31E4630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3A5B719-A31E-1E4F-54E8-8EAB0952DD70}"/>
              </a:ext>
            </a:extLst>
          </p:cNvPr>
          <p:cNvSpPr/>
          <p:nvPr/>
        </p:nvSpPr>
        <p:spPr>
          <a:xfrm>
            <a:off x="7791433" y="1176052"/>
            <a:ext cx="1080880" cy="3851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1431AD-C301-8472-F192-2F760D6BEBB5}"/>
              </a:ext>
            </a:extLst>
          </p:cNvPr>
          <p:cNvSpPr/>
          <p:nvPr/>
        </p:nvSpPr>
        <p:spPr>
          <a:xfrm>
            <a:off x="6368075" y="1176052"/>
            <a:ext cx="1080880" cy="3851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C40059-9511-2C17-9D3D-493C7A175722}"/>
              </a:ext>
            </a:extLst>
          </p:cNvPr>
          <p:cNvSpPr/>
          <p:nvPr/>
        </p:nvSpPr>
        <p:spPr>
          <a:xfrm>
            <a:off x="4944717" y="1176052"/>
            <a:ext cx="1080880" cy="3851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8A25BB9-2AFF-01AA-AEE2-6F53254CBFB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3ABC06-5542-A7F5-5825-0518F2FA2E40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PROPOSED SOLUTIONS</a:t>
            </a:r>
            <a:r>
              <a:rPr lang="en-US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WITH PRIORITISATION</a:t>
            </a:r>
            <a:endParaRPr lang="en-US" sz="18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C2FB3D0A-CA0A-2416-6B30-34659D3F0A7B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0CFD6714-1F32-8E38-15A7-43E43AD8DAF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888888"/>
              </a:solidFill>
              <a:latin typeface="Arial"/>
              <a:cs typeface="Arial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BA715F4D-4221-4943-B4B9-B687788A8282}"/>
              </a:ext>
            </a:extLst>
          </p:cNvPr>
          <p:cNvSpPr/>
          <p:nvPr/>
        </p:nvSpPr>
        <p:spPr>
          <a:xfrm>
            <a:off x="696691" y="752245"/>
            <a:ext cx="20537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Bundles</a:t>
            </a:r>
            <a:endParaRPr lang="en-US" sz="1200"/>
          </a:p>
        </p:txBody>
      </p:sp>
      <p:sp>
        <p:nvSpPr>
          <p:cNvPr id="78" name="Heptagon 77">
            <a:extLst>
              <a:ext uri="{FF2B5EF4-FFF2-40B4-BE49-F238E27FC236}">
                <a16:creationId xmlns:a16="http://schemas.microsoft.com/office/drawing/2014/main" id="{8AD940D9-9E36-0F1C-C5CA-DA9A89E7146C}"/>
              </a:ext>
            </a:extLst>
          </p:cNvPr>
          <p:cNvSpPr/>
          <p:nvPr/>
        </p:nvSpPr>
        <p:spPr>
          <a:xfrm>
            <a:off x="423040" y="792100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1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EB3BF35-C098-2A13-D30C-439DECAB3552}"/>
              </a:ext>
            </a:extLst>
          </p:cNvPr>
          <p:cNvSpPr/>
          <p:nvPr/>
        </p:nvSpPr>
        <p:spPr>
          <a:xfrm>
            <a:off x="637202" y="1021127"/>
            <a:ext cx="3789656" cy="6370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chemeClr val="accent6">
                    <a:lumMod val="75000"/>
                  </a:schemeClr>
                </a:solidFill>
              </a:rPr>
              <a:t>Horizontally scrollable bundle cards on the home screen (below Frequently Ordered), filterable by category (Breakfast, Snacks, </a:t>
            </a:r>
            <a:r>
              <a:rPr lang="en-US" sz="1000" b="1" err="1">
                <a:solidFill>
                  <a:schemeClr val="accent6">
                    <a:lumMod val="75000"/>
                  </a:schemeClr>
                </a:solidFill>
              </a:rPr>
              <a:t>etc</a:t>
            </a:r>
            <a:r>
              <a:rPr lang="en-US" sz="1000" b="1">
                <a:solidFill>
                  <a:schemeClr val="accent6">
                    <a:lumMod val="75000"/>
                  </a:schemeClr>
                </a:solidFill>
              </a:rPr>
              <a:t>). Bundle items group in cart as a single line item with a "Bundle" badge.</a:t>
            </a:r>
            <a:endParaRPr lang="en-US" sz="10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EFD98AF-1688-78CA-09C8-875375153150}"/>
              </a:ext>
            </a:extLst>
          </p:cNvPr>
          <p:cNvGrpSpPr/>
          <p:nvPr/>
        </p:nvGrpSpPr>
        <p:grpSpPr>
          <a:xfrm>
            <a:off x="423040" y="1721502"/>
            <a:ext cx="2066160" cy="274320"/>
            <a:chOff x="328697" y="1982179"/>
            <a:chExt cx="2066160" cy="274320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142970DD-BEC6-F250-8E56-1948DA22327D}"/>
                </a:ext>
              </a:extLst>
            </p:cNvPr>
            <p:cNvSpPr/>
            <p:nvPr/>
          </p:nvSpPr>
          <p:spPr>
            <a:xfrm>
              <a:off x="602348" y="1982179"/>
              <a:ext cx="179250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1A1A1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Blinkit Buddy Mode</a:t>
              </a:r>
              <a:endParaRPr lang="en-US" sz="1200"/>
            </a:p>
          </p:txBody>
        </p:sp>
        <p:sp>
          <p:nvSpPr>
            <p:cNvPr id="10" name="Heptagon 9">
              <a:extLst>
                <a:ext uri="{FF2B5EF4-FFF2-40B4-BE49-F238E27FC236}">
                  <a16:creationId xmlns:a16="http://schemas.microsoft.com/office/drawing/2014/main" id="{09602BAB-C900-4948-25B0-84D3AA01D260}"/>
                </a:ext>
              </a:extLst>
            </p:cNvPr>
            <p:cNvSpPr/>
            <p:nvPr/>
          </p:nvSpPr>
          <p:spPr>
            <a:xfrm>
              <a:off x="328697" y="2033464"/>
              <a:ext cx="186702" cy="171750"/>
            </a:xfrm>
            <a:prstGeom prst="heptagon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1200"/>
                <a:t>2</a:t>
              </a:r>
            </a:p>
          </p:txBody>
        </p:sp>
      </p:grpSp>
      <p:sp>
        <p:nvSpPr>
          <p:cNvPr id="14" name="Text 4">
            <a:extLst>
              <a:ext uri="{FF2B5EF4-FFF2-40B4-BE49-F238E27FC236}">
                <a16:creationId xmlns:a16="http://schemas.microsoft.com/office/drawing/2014/main" id="{2AF7010E-78BA-587A-3B5E-F9BDD111BF6F}"/>
              </a:ext>
            </a:extLst>
          </p:cNvPr>
          <p:cNvSpPr/>
          <p:nvPr/>
        </p:nvSpPr>
        <p:spPr>
          <a:xfrm>
            <a:off x="637201" y="2769656"/>
            <a:ext cx="3027656" cy="412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A1A1A"/>
                </a:solidFill>
                <a:latin typeface="Arial Black" pitchFamily="34" charset="0"/>
              </a:rPr>
              <a:t>Cart Nudge (Save More, Add More)</a:t>
            </a:r>
          </a:p>
        </p:txBody>
      </p:sp>
      <p:sp>
        <p:nvSpPr>
          <p:cNvPr id="13" name="Heptagon 12">
            <a:extLst>
              <a:ext uri="{FF2B5EF4-FFF2-40B4-BE49-F238E27FC236}">
                <a16:creationId xmlns:a16="http://schemas.microsoft.com/office/drawing/2014/main" id="{CE7F816D-4543-E528-AF41-9AA72FBEF7A3}"/>
              </a:ext>
            </a:extLst>
          </p:cNvPr>
          <p:cNvSpPr/>
          <p:nvPr/>
        </p:nvSpPr>
        <p:spPr>
          <a:xfrm>
            <a:off x="404345" y="3967908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4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3D77D28-820D-00C8-B6CA-65B3A450ADF3}"/>
              </a:ext>
            </a:extLst>
          </p:cNvPr>
          <p:cNvSpPr/>
          <p:nvPr/>
        </p:nvSpPr>
        <p:spPr>
          <a:xfrm>
            <a:off x="641528" y="3888329"/>
            <a:ext cx="2438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>
                <a:solidFill>
                  <a:srgbClr val="1A1A1A"/>
                </a:solidFill>
                <a:latin typeface="Arial Black" pitchFamily="34" charset="0"/>
              </a:rPr>
              <a:t>Recipe Discovery from Cart</a:t>
            </a:r>
            <a:endParaRPr lang="en-US" sz="1200" b="1">
              <a:solidFill>
                <a:srgbClr val="1A1A1A"/>
              </a:solidFill>
              <a:latin typeface="Arial Black" pitchFamily="34" charset="0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8DE3B580-6C7C-4EB8-2E99-4E94B320D742}"/>
              </a:ext>
            </a:extLst>
          </p:cNvPr>
          <p:cNvSpPr/>
          <p:nvPr/>
        </p:nvSpPr>
        <p:spPr>
          <a:xfrm>
            <a:off x="631309" y="1995440"/>
            <a:ext cx="3806333" cy="680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chemeClr val="accent6">
                    <a:lumMod val="75000"/>
                  </a:schemeClr>
                </a:solidFill>
              </a:rPr>
              <a:t>A linked-account system where a "buddy"  sets up a simplified Easy Shop UI for a non-tech user. </a:t>
            </a:r>
            <a:r>
              <a:rPr lang="en-US" sz="1000" b="1">
                <a:solidFill>
                  <a:schemeClr val="accent6">
                    <a:lumMod val="75000"/>
                  </a:schemeClr>
                </a:solidFill>
                <a:ea typeface="+mn-lt"/>
                <a:cs typeface="+mn-lt"/>
              </a:rPr>
              <a:t>Users select frequent items in a large, accessible format &amp; submit the list for the buddy to complete payment </a:t>
            </a:r>
            <a:endParaRPr lang="en-US" sz="1000" b="1">
              <a:solidFill>
                <a:schemeClr val="accent6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90EBEB99-1349-5F1C-9927-EB1A17BB5B1F}"/>
              </a:ext>
            </a:extLst>
          </p:cNvPr>
          <p:cNvSpPr/>
          <p:nvPr/>
        </p:nvSpPr>
        <p:spPr>
          <a:xfrm>
            <a:off x="631305" y="3098954"/>
            <a:ext cx="3811299" cy="6693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chemeClr val="accent6">
                    <a:lumMod val="75000"/>
                  </a:schemeClr>
                </a:solidFill>
              </a:rPr>
              <a:t>A dynamic savings nudge bar  at the checkout section whenever the cart total is below a threshold.  "Add items worth ₹XX more to save ₹YY" with  animated fill bar to show how close user is to unlock the discount</a:t>
            </a:r>
            <a:endParaRPr lang="en-US" sz="10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D0DB53FB-5E44-F613-6C38-159E7610ECC0}"/>
              </a:ext>
            </a:extLst>
          </p:cNvPr>
          <p:cNvSpPr/>
          <p:nvPr/>
        </p:nvSpPr>
        <p:spPr>
          <a:xfrm>
            <a:off x="631306" y="4160650"/>
            <a:ext cx="3807144" cy="656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00" b="1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1000" b="1">
                <a:solidFill>
                  <a:schemeClr val="accent6">
                    <a:lumMod val="75000"/>
                  </a:schemeClr>
                </a:solidFill>
              </a:rPr>
              <a:t>Once food items are in the cart, a "🍳 Recipes You Can Make" card appears in the cart screen which is auto matched to the ingredients, also asking to add more items to complete the recipe preparation</a:t>
            </a:r>
            <a:endParaRPr lang="en-US" sz="1000" b="1">
              <a:solidFill>
                <a:schemeClr val="accent6">
                  <a:lumMod val="75000"/>
                </a:schemeClr>
              </a:solidFill>
              <a:ea typeface="Calibri"/>
              <a:cs typeface="Calibri"/>
            </a:endParaRPr>
          </a:p>
          <a:p>
            <a:pPr algn="ctr"/>
            <a:endParaRPr lang="en-US" sz="1000" b="1">
              <a:solidFill>
                <a:schemeClr val="accent6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6" name="Heptagon 25">
            <a:extLst>
              <a:ext uri="{FF2B5EF4-FFF2-40B4-BE49-F238E27FC236}">
                <a16:creationId xmlns:a16="http://schemas.microsoft.com/office/drawing/2014/main" id="{BFBDB140-3BC7-E3B7-D7D3-5C816D989FC6}"/>
              </a:ext>
            </a:extLst>
          </p:cNvPr>
          <p:cNvSpPr/>
          <p:nvPr/>
        </p:nvSpPr>
        <p:spPr>
          <a:xfrm>
            <a:off x="404345" y="2873139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/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ACA15C-9383-7596-FDF2-7A93B43044C4}"/>
              </a:ext>
            </a:extLst>
          </p:cNvPr>
          <p:cNvSpPr/>
          <p:nvPr/>
        </p:nvSpPr>
        <p:spPr>
          <a:xfrm>
            <a:off x="4834786" y="804959"/>
            <a:ext cx="1333786" cy="251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B7050-B9AA-582F-A277-569A015A8638}"/>
              </a:ext>
            </a:extLst>
          </p:cNvPr>
          <p:cNvSpPr/>
          <p:nvPr/>
        </p:nvSpPr>
        <p:spPr>
          <a:xfrm>
            <a:off x="6241220" y="797227"/>
            <a:ext cx="1333786" cy="251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DEE66F-E621-6E97-F87C-75C316FCC773}"/>
              </a:ext>
            </a:extLst>
          </p:cNvPr>
          <p:cNvSpPr/>
          <p:nvPr/>
        </p:nvSpPr>
        <p:spPr>
          <a:xfrm>
            <a:off x="7647654" y="797702"/>
            <a:ext cx="1333786" cy="2514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C29E8-79C6-6ECD-CCE3-AD43D408ADB3}"/>
              </a:ext>
            </a:extLst>
          </p:cNvPr>
          <p:cNvSpPr txBox="1"/>
          <p:nvPr/>
        </p:nvSpPr>
        <p:spPr>
          <a:xfrm>
            <a:off x="4957355" y="764145"/>
            <a:ext cx="1088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</a:rPr>
              <a:t>EFFORT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78ACD2-44FB-BC0A-9F2E-05664608BB8D}"/>
              </a:ext>
            </a:extLst>
          </p:cNvPr>
          <p:cNvSpPr txBox="1"/>
          <p:nvPr/>
        </p:nvSpPr>
        <p:spPr>
          <a:xfrm>
            <a:off x="6363788" y="764145"/>
            <a:ext cx="1088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bg1"/>
                </a:solidFill>
              </a:rPr>
              <a:t>IMPACT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73D5E9-2321-61E8-54F7-E172929345D0}"/>
              </a:ext>
            </a:extLst>
          </p:cNvPr>
          <p:cNvSpPr txBox="1"/>
          <p:nvPr/>
        </p:nvSpPr>
        <p:spPr>
          <a:xfrm>
            <a:off x="7686642" y="776115"/>
            <a:ext cx="129035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100" b="1">
                <a:solidFill>
                  <a:schemeClr val="accent6">
                    <a:lumMod val="50000"/>
                  </a:schemeClr>
                </a:solidFill>
              </a:rPr>
              <a:t>AOV LIFT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A11AE5-12E9-0560-1E8E-38D0E99459D6}"/>
              </a:ext>
            </a:extLst>
          </p:cNvPr>
          <p:cNvSpPr txBox="1"/>
          <p:nvPr/>
        </p:nvSpPr>
        <p:spPr>
          <a:xfrm>
            <a:off x="5102536" y="1238387"/>
            <a:ext cx="798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/>
              <a:t>MEDIUM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CC6860-6C92-A369-FCB2-417E8E29A185}"/>
              </a:ext>
            </a:extLst>
          </p:cNvPr>
          <p:cNvSpPr txBox="1"/>
          <p:nvPr/>
        </p:nvSpPr>
        <p:spPr>
          <a:xfrm>
            <a:off x="6508109" y="1242934"/>
            <a:ext cx="798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/>
              <a:t>HIGH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E252FF-11A8-4F78-191E-7C14B43C7911}"/>
              </a:ext>
            </a:extLst>
          </p:cNvPr>
          <p:cNvSpPr txBox="1"/>
          <p:nvPr/>
        </p:nvSpPr>
        <p:spPr>
          <a:xfrm>
            <a:off x="7787498" y="1236698"/>
            <a:ext cx="108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/>
              <a:t>HIGH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1ED06-B5A2-DA21-3720-FB30FE322734}"/>
              </a:ext>
            </a:extLst>
          </p:cNvPr>
          <p:cNvSpPr/>
          <p:nvPr/>
        </p:nvSpPr>
        <p:spPr>
          <a:xfrm>
            <a:off x="7780650" y="2135740"/>
            <a:ext cx="1080880" cy="3851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118D1D-5B16-8353-246E-913261B37C54}"/>
              </a:ext>
            </a:extLst>
          </p:cNvPr>
          <p:cNvSpPr/>
          <p:nvPr/>
        </p:nvSpPr>
        <p:spPr>
          <a:xfrm>
            <a:off x="6357292" y="2135740"/>
            <a:ext cx="1080880" cy="3851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27C595-8203-5B6F-602D-56DA54742553}"/>
              </a:ext>
            </a:extLst>
          </p:cNvPr>
          <p:cNvSpPr/>
          <p:nvPr/>
        </p:nvSpPr>
        <p:spPr>
          <a:xfrm>
            <a:off x="4933934" y="2135740"/>
            <a:ext cx="1080880" cy="3851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E2F7CD-1EE1-AC55-758E-1F767531EE57}"/>
              </a:ext>
            </a:extLst>
          </p:cNvPr>
          <p:cNvSpPr txBox="1"/>
          <p:nvPr/>
        </p:nvSpPr>
        <p:spPr>
          <a:xfrm>
            <a:off x="5091753" y="2198075"/>
            <a:ext cx="79828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>
                <a:ea typeface="Calibri"/>
                <a:cs typeface="Calibri"/>
              </a:rPr>
              <a:t>HIGH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EF09B-AA40-B9BA-2117-3D32165ED19C}"/>
              </a:ext>
            </a:extLst>
          </p:cNvPr>
          <p:cNvSpPr txBox="1"/>
          <p:nvPr/>
        </p:nvSpPr>
        <p:spPr>
          <a:xfrm>
            <a:off x="6508109" y="2202622"/>
            <a:ext cx="798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/>
              <a:t>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B96DAA-DC7F-350A-BE60-F316AD8330B7}"/>
              </a:ext>
            </a:extLst>
          </p:cNvPr>
          <p:cNvSpPr txBox="1"/>
          <p:nvPr/>
        </p:nvSpPr>
        <p:spPr>
          <a:xfrm>
            <a:off x="7776715" y="2196386"/>
            <a:ext cx="1088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/>
              <a:t>HIGH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F61F2B-F144-95E9-0EF2-352C91C795C0}"/>
              </a:ext>
            </a:extLst>
          </p:cNvPr>
          <p:cNvSpPr/>
          <p:nvPr/>
        </p:nvSpPr>
        <p:spPr>
          <a:xfrm>
            <a:off x="7802216" y="4292343"/>
            <a:ext cx="1080880" cy="3851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F814C41-43F1-FCA6-3432-90059FFC50E9}"/>
              </a:ext>
            </a:extLst>
          </p:cNvPr>
          <p:cNvSpPr/>
          <p:nvPr/>
        </p:nvSpPr>
        <p:spPr>
          <a:xfrm>
            <a:off x="6378858" y="4292343"/>
            <a:ext cx="1080880" cy="3851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4FA85E-0983-6054-EF30-46AA3AC07950}"/>
              </a:ext>
            </a:extLst>
          </p:cNvPr>
          <p:cNvSpPr/>
          <p:nvPr/>
        </p:nvSpPr>
        <p:spPr>
          <a:xfrm>
            <a:off x="4955500" y="4292343"/>
            <a:ext cx="1080880" cy="3851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3FF7A0-C980-1BD4-A345-520BB3E74F0F}"/>
              </a:ext>
            </a:extLst>
          </p:cNvPr>
          <p:cNvSpPr txBox="1"/>
          <p:nvPr/>
        </p:nvSpPr>
        <p:spPr>
          <a:xfrm>
            <a:off x="5113319" y="4354678"/>
            <a:ext cx="79828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>
                <a:ea typeface="Calibri"/>
                <a:cs typeface="Calibri"/>
              </a:rPr>
              <a:t>HIGH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B50146-DA0D-98A9-C5A4-9130B9238D52}"/>
              </a:ext>
            </a:extLst>
          </p:cNvPr>
          <p:cNvSpPr txBox="1"/>
          <p:nvPr/>
        </p:nvSpPr>
        <p:spPr>
          <a:xfrm>
            <a:off x="6518892" y="4370008"/>
            <a:ext cx="79828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>
                <a:ea typeface="Calibri"/>
                <a:cs typeface="Calibri"/>
              </a:rPr>
              <a:t>MEDIUM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7F7ED3-D8B3-0751-E2CA-DFC663CBA89E}"/>
              </a:ext>
            </a:extLst>
          </p:cNvPr>
          <p:cNvSpPr txBox="1"/>
          <p:nvPr/>
        </p:nvSpPr>
        <p:spPr>
          <a:xfrm>
            <a:off x="7798281" y="4374555"/>
            <a:ext cx="108864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>
                <a:ea typeface="Calibri"/>
                <a:cs typeface="Calibri"/>
              </a:rPr>
              <a:t>MEDIUM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81DFEFB-5FA8-3D27-882A-49086D5FE691}"/>
              </a:ext>
            </a:extLst>
          </p:cNvPr>
          <p:cNvSpPr/>
          <p:nvPr/>
        </p:nvSpPr>
        <p:spPr>
          <a:xfrm>
            <a:off x="7780650" y="3181692"/>
            <a:ext cx="1080880" cy="3851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E076630-61D8-A42B-93FA-1D25AF2515A9}"/>
              </a:ext>
            </a:extLst>
          </p:cNvPr>
          <p:cNvSpPr/>
          <p:nvPr/>
        </p:nvSpPr>
        <p:spPr>
          <a:xfrm>
            <a:off x="6357292" y="3181692"/>
            <a:ext cx="1080880" cy="3851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BE19044-40D8-91AF-517F-6C66AD88601F}"/>
              </a:ext>
            </a:extLst>
          </p:cNvPr>
          <p:cNvSpPr/>
          <p:nvPr/>
        </p:nvSpPr>
        <p:spPr>
          <a:xfrm>
            <a:off x="4933934" y="3181692"/>
            <a:ext cx="1080880" cy="3851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322721-FAC2-5083-AC6C-6405FE5BE821}"/>
              </a:ext>
            </a:extLst>
          </p:cNvPr>
          <p:cNvSpPr txBox="1"/>
          <p:nvPr/>
        </p:nvSpPr>
        <p:spPr>
          <a:xfrm>
            <a:off x="5091753" y="3244027"/>
            <a:ext cx="79828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>
                <a:ea typeface="Calibri"/>
                <a:cs typeface="Calibri"/>
              </a:rPr>
              <a:t>LOW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E5ADB4-C0DC-0E56-6BB2-DAB7A426DC0B}"/>
              </a:ext>
            </a:extLst>
          </p:cNvPr>
          <p:cNvSpPr txBox="1"/>
          <p:nvPr/>
        </p:nvSpPr>
        <p:spPr>
          <a:xfrm>
            <a:off x="6497326" y="3227008"/>
            <a:ext cx="79828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/>
              <a:t>MEDIUM</a:t>
            </a:r>
            <a:endParaRPr lang="en-IN" sz="1200">
              <a:ea typeface="Calibri"/>
              <a:cs typeface="Calibr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E9B77D-E57E-4423-75B9-FBF562977209}"/>
              </a:ext>
            </a:extLst>
          </p:cNvPr>
          <p:cNvSpPr txBox="1"/>
          <p:nvPr/>
        </p:nvSpPr>
        <p:spPr>
          <a:xfrm>
            <a:off x="7776715" y="3242338"/>
            <a:ext cx="108864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1200"/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3718529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AEC74-1D9A-0869-FE56-42F9A9CD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1BE0D3-A63F-68A8-159D-DFD4D329271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30328D-619B-9188-93A6-A49F0207B703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REVISED USER </a:t>
            </a:r>
            <a:r>
              <a:rPr lang="en-US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</a:t>
            </a:r>
            <a:endParaRPr lang="en-US" sz="18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EFCBA5A9-E9B2-45C0-0479-446EB59A49ED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6DA60A0-D432-8CB7-6E67-8D9087DB96EB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888888"/>
              </a:solidFill>
              <a:latin typeface="Arial"/>
              <a:cs typeface="Arial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62E41D28-32EF-5E2B-E969-3BDA29919FAB}"/>
              </a:ext>
            </a:extLst>
          </p:cNvPr>
          <p:cNvSpPr/>
          <p:nvPr/>
        </p:nvSpPr>
        <p:spPr>
          <a:xfrm>
            <a:off x="602348" y="7675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Bundles Solution</a:t>
            </a:r>
            <a:endParaRPr lang="en-US" sz="1200"/>
          </a:p>
        </p:txBody>
      </p:sp>
      <p:sp>
        <p:nvSpPr>
          <p:cNvPr id="78" name="Heptagon 77">
            <a:extLst>
              <a:ext uri="{FF2B5EF4-FFF2-40B4-BE49-F238E27FC236}">
                <a16:creationId xmlns:a16="http://schemas.microsoft.com/office/drawing/2014/main" id="{8EE0F9E6-7169-772A-DBDB-DD6290746BB3}"/>
              </a:ext>
            </a:extLst>
          </p:cNvPr>
          <p:cNvSpPr/>
          <p:nvPr/>
        </p:nvSpPr>
        <p:spPr>
          <a:xfrm>
            <a:off x="328697" y="807425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1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235F671-4F14-108A-8E26-9DFCD57F7A27}"/>
              </a:ext>
            </a:extLst>
          </p:cNvPr>
          <p:cNvSpPr/>
          <p:nvPr/>
        </p:nvSpPr>
        <p:spPr>
          <a:xfrm>
            <a:off x="3148212" y="963958"/>
            <a:ext cx="2847575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IN" sz="1200" b="1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Placing an Order for a Bundle</a:t>
            </a:r>
            <a:endParaRPr lang="en-US" sz="12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BCFB6C-A5A8-E4F8-5D1C-974799E3B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16" y="506457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69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C560E-5251-3E74-ACEF-9A4833EA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AFF6F8-B2A7-6D88-4AA6-718E773AF4D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5AF195-1217-A687-B4CE-278B290CF900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REVISED USER JOURNEYS</a:t>
            </a:r>
            <a:endParaRPr lang="en-US" sz="18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670AA31-3246-7987-B23A-7C57FF7DDDD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FA1AD00F-4678-40C3-B360-A10E84C51572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888888"/>
              </a:solidFill>
              <a:latin typeface="Arial"/>
              <a:cs typeface="Arial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6F25EC05-A8C8-0AC4-1AEC-779A50785BE9}"/>
              </a:ext>
            </a:extLst>
          </p:cNvPr>
          <p:cNvSpPr/>
          <p:nvPr/>
        </p:nvSpPr>
        <p:spPr>
          <a:xfrm>
            <a:off x="602348" y="7675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Bundles Solution</a:t>
            </a:r>
            <a:endParaRPr lang="en-US" sz="1200"/>
          </a:p>
        </p:txBody>
      </p:sp>
      <p:sp>
        <p:nvSpPr>
          <p:cNvPr id="78" name="Heptagon 77">
            <a:extLst>
              <a:ext uri="{FF2B5EF4-FFF2-40B4-BE49-F238E27FC236}">
                <a16:creationId xmlns:a16="http://schemas.microsoft.com/office/drawing/2014/main" id="{CB97B78F-6337-52A9-7BD3-E1106CEF9A94}"/>
              </a:ext>
            </a:extLst>
          </p:cNvPr>
          <p:cNvSpPr/>
          <p:nvPr/>
        </p:nvSpPr>
        <p:spPr>
          <a:xfrm>
            <a:off x="328697" y="807425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7FA33C-689B-0D17-858B-EED6E91C3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58" y="1380744"/>
            <a:ext cx="7186283" cy="3307367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23ECB1B-1955-BF38-1999-853FBD3F9D3C}"/>
              </a:ext>
            </a:extLst>
          </p:cNvPr>
          <p:cNvSpPr/>
          <p:nvPr/>
        </p:nvSpPr>
        <p:spPr>
          <a:xfrm>
            <a:off x="3148212" y="963958"/>
            <a:ext cx="2847575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IN" sz="1200" b="1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Placing an Order for a Bundle</a:t>
            </a:r>
            <a:endParaRPr lang="en-US" sz="12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483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9DF91-5466-9A91-72F3-0F361A0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39385D-96A8-D2BC-EDC2-74379FEE8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29184"/>
            <a:ext cx="9144000" cy="51435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AF7C2E43-2B4F-B444-D390-E54DEF5E48B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59E715-4225-FAA7-F5B7-6FF1DE6687F2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REVISED USER FLOW</a:t>
            </a:r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07B576D3-5B88-6A34-3DB2-19CFCAD7054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2C05983E-CCDF-FAB5-E826-86B28ACB7F7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888888"/>
              </a:solidFill>
              <a:latin typeface="Arial"/>
              <a:cs typeface="Arial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0A1D5C0C-65D3-308C-0833-1214FCDCE107}"/>
              </a:ext>
            </a:extLst>
          </p:cNvPr>
          <p:cNvSpPr/>
          <p:nvPr/>
        </p:nvSpPr>
        <p:spPr>
          <a:xfrm>
            <a:off x="602348" y="7675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>
                <a:solidFill>
                  <a:srgbClr val="1A1A1A"/>
                </a:solidFill>
                <a:latin typeface="Arial Black" pitchFamily="34" charset="0"/>
              </a:rPr>
              <a:t>Buddy Mode</a:t>
            </a:r>
            <a:endParaRPr lang="en-US" sz="1200" b="1">
              <a:solidFill>
                <a:srgbClr val="1A1A1A"/>
              </a:solidFill>
              <a:latin typeface="Arial Black" pitchFamily="34" charset="0"/>
            </a:endParaRPr>
          </a:p>
        </p:txBody>
      </p:sp>
      <p:sp>
        <p:nvSpPr>
          <p:cNvPr id="78" name="Heptagon 77">
            <a:extLst>
              <a:ext uri="{FF2B5EF4-FFF2-40B4-BE49-F238E27FC236}">
                <a16:creationId xmlns:a16="http://schemas.microsoft.com/office/drawing/2014/main" id="{F8FBB2A8-8C08-2BE6-16E7-F51969DAA7B1}"/>
              </a:ext>
            </a:extLst>
          </p:cNvPr>
          <p:cNvSpPr/>
          <p:nvPr/>
        </p:nvSpPr>
        <p:spPr>
          <a:xfrm>
            <a:off x="328697" y="807425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2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F64440B-956C-29F6-6BD7-404A7D357024}"/>
              </a:ext>
            </a:extLst>
          </p:cNvPr>
          <p:cNvSpPr/>
          <p:nvPr/>
        </p:nvSpPr>
        <p:spPr>
          <a:xfrm>
            <a:off x="3148211" y="1110262"/>
            <a:ext cx="2847575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IN" sz="1200" b="1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Adding A Member to the Buddy</a:t>
            </a:r>
            <a:endParaRPr lang="en-US" sz="12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88E2059-3E7B-5EDB-64B6-3F229F1AF0D2}"/>
              </a:ext>
            </a:extLst>
          </p:cNvPr>
          <p:cNvSpPr/>
          <p:nvPr/>
        </p:nvSpPr>
        <p:spPr>
          <a:xfrm>
            <a:off x="2937728" y="3097558"/>
            <a:ext cx="3375959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IN" sz="1200" b="1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Placing the Order through the Buddy</a:t>
            </a:r>
            <a:endParaRPr lang="en-US" sz="12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506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F93D5-BF47-C62B-0DC5-8200D8DD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8C5649-5F54-FD47-F4D7-8FB26C8DB24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5FF8FB-AA4B-DE34-DF02-F93DCD0810BE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REVISED USER JOURNEYS</a:t>
            </a:r>
            <a:endParaRPr lang="en-US" sz="18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E2BE7FC6-AE1D-7C4E-F580-C5DF934E618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5611994-BD45-4BAD-9A4E-0187438CFE30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888888"/>
              </a:solidFill>
              <a:latin typeface="Arial"/>
              <a:cs typeface="Arial"/>
            </a:endParaRPr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4438CFCA-CB46-1645-D013-A255DD36BD5E}"/>
              </a:ext>
            </a:extLst>
          </p:cNvPr>
          <p:cNvSpPr/>
          <p:nvPr/>
        </p:nvSpPr>
        <p:spPr>
          <a:xfrm>
            <a:off x="602348" y="7675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>
                <a:solidFill>
                  <a:srgbClr val="1A1A1A"/>
                </a:solidFill>
                <a:latin typeface="Arial Black" pitchFamily="34" charset="0"/>
              </a:rPr>
              <a:t>Buddy Mode</a:t>
            </a:r>
            <a:endParaRPr lang="en-US" sz="1200" b="1">
              <a:solidFill>
                <a:srgbClr val="1A1A1A"/>
              </a:solidFill>
              <a:latin typeface="Arial Black" pitchFamily="34" charset="0"/>
            </a:endParaRPr>
          </a:p>
        </p:txBody>
      </p:sp>
      <p:sp>
        <p:nvSpPr>
          <p:cNvPr id="78" name="Heptagon 77">
            <a:extLst>
              <a:ext uri="{FF2B5EF4-FFF2-40B4-BE49-F238E27FC236}">
                <a16:creationId xmlns:a16="http://schemas.microsoft.com/office/drawing/2014/main" id="{8D8B2E8A-09AC-E0DA-6F7B-70EB3795FA04}"/>
              </a:ext>
            </a:extLst>
          </p:cNvPr>
          <p:cNvSpPr/>
          <p:nvPr/>
        </p:nvSpPr>
        <p:spPr>
          <a:xfrm>
            <a:off x="328697" y="807425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EB417C-60F2-FFF3-EA09-40858921A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36" y="1381219"/>
            <a:ext cx="7430144" cy="3254022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BEA82603-7D99-100A-6D77-1ABAFD36C945}"/>
              </a:ext>
            </a:extLst>
          </p:cNvPr>
          <p:cNvSpPr/>
          <p:nvPr/>
        </p:nvSpPr>
        <p:spPr>
          <a:xfrm>
            <a:off x="3148212" y="963958"/>
            <a:ext cx="2847575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IN" sz="1200" b="1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Adding A Member to the Buddy</a:t>
            </a:r>
            <a:endParaRPr lang="en-US" sz="12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954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C8D9F-57D3-7664-5754-B4CC71D9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EEE95C-1303-E44A-3AA6-D2B20B58F90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DE3EC7-9603-8F8E-D8B6-78952E920393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REVISED USER JOURNEYS</a:t>
            </a:r>
            <a:endParaRPr lang="en-US" sz="18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89129B6-297B-1FDF-80FB-C0CFCED1FBF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EB6A5AB4-A7B5-F5B3-3AA0-0D17849D26A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Bain &amp; Company · RedSeer · Industry Reports 2024–2025</a:t>
            </a:r>
            <a:endParaRPr lang="en-US" sz="800"/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45C69ED3-1D94-9060-EFC0-4B9CC92BB1D6}"/>
              </a:ext>
            </a:extLst>
          </p:cNvPr>
          <p:cNvSpPr/>
          <p:nvPr/>
        </p:nvSpPr>
        <p:spPr>
          <a:xfrm>
            <a:off x="602348" y="76757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>
                <a:solidFill>
                  <a:srgbClr val="1A1A1A"/>
                </a:solidFill>
                <a:latin typeface="Arial Black" pitchFamily="34" charset="0"/>
              </a:rPr>
              <a:t>Buddy Mode</a:t>
            </a:r>
            <a:endParaRPr lang="en-US" sz="1200" b="1">
              <a:solidFill>
                <a:srgbClr val="1A1A1A"/>
              </a:solidFill>
              <a:latin typeface="Arial Black" pitchFamily="34" charset="0"/>
            </a:endParaRPr>
          </a:p>
        </p:txBody>
      </p:sp>
      <p:sp>
        <p:nvSpPr>
          <p:cNvPr id="78" name="Heptagon 77">
            <a:extLst>
              <a:ext uri="{FF2B5EF4-FFF2-40B4-BE49-F238E27FC236}">
                <a16:creationId xmlns:a16="http://schemas.microsoft.com/office/drawing/2014/main" id="{09602BAB-C900-4948-25B0-84D3AA01D260}"/>
              </a:ext>
            </a:extLst>
          </p:cNvPr>
          <p:cNvSpPr/>
          <p:nvPr/>
        </p:nvSpPr>
        <p:spPr>
          <a:xfrm>
            <a:off x="328697" y="807425"/>
            <a:ext cx="186702" cy="171750"/>
          </a:xfrm>
          <a:prstGeom prst="heptag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F2CEF-03EB-480C-0317-A237E310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00" y="1416629"/>
            <a:ext cx="7155800" cy="3299746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CC4AB0F1-D078-1AA4-A948-E4D447AF2F89}"/>
              </a:ext>
            </a:extLst>
          </p:cNvPr>
          <p:cNvSpPr/>
          <p:nvPr/>
        </p:nvSpPr>
        <p:spPr>
          <a:xfrm>
            <a:off x="3148212" y="963958"/>
            <a:ext cx="3375959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IN" sz="1200" b="1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Placing the Order through the Buddy</a:t>
            </a:r>
            <a:endParaRPr lang="en-US" sz="1200" b="1">
              <a:solidFill>
                <a:schemeClr val="accent6">
                  <a:lumMod val="75000"/>
                </a:schemeClr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032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A1357-E4AE-7ACE-2166-708A1E69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6B2B1D-10AE-6F8B-10BE-4057CE4FFF7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BC4A7F-BF44-395A-CF5A-D0271FEAD803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IMPLICATIONS</a:t>
            </a:r>
            <a:endParaRPr lang="en-US" sz="18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471CF9D-1C42-E786-A6D4-9C8CDAE1D28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534E489F-8F05-E7D8-3F45-A85348F3A95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888888"/>
              </a:solidFill>
              <a:latin typeface="Arial"/>
              <a:cs typeface="Arial"/>
            </a:endParaRP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2E2E9F-5C8B-DCB5-C744-D066455CF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54" y="682493"/>
            <a:ext cx="6303290" cy="417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45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6D667-7EE7-4C4F-5083-EB10ACE7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2D4B92-9F63-D468-4699-B6F9161CA82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513C8A-55E2-AA54-3062-F7CDDA6C47D5}"/>
              </a:ext>
            </a:extLst>
          </p:cNvPr>
          <p:cNvSpPr/>
          <p:nvPr/>
        </p:nvSpPr>
        <p:spPr>
          <a:xfrm>
            <a:off x="3200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Arial Black" pitchFamily="34" charset="0"/>
              </a:rPr>
              <a:t>FEATURE METRICS TO BE MONITORED</a:t>
            </a:r>
            <a:endParaRPr lang="en-US" sz="180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77466C49-5BF3-FB80-233E-F7B816C6EA1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DA86B58A-E734-E49D-5760-FCDFDBD0D23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>
              <a:solidFill>
                <a:srgbClr val="888888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8E83B-07C8-3F80-F4B3-404DF3DBA4D0}"/>
              </a:ext>
            </a:extLst>
          </p:cNvPr>
          <p:cNvSpPr txBox="1"/>
          <p:nvPr/>
        </p:nvSpPr>
        <p:spPr>
          <a:xfrm>
            <a:off x="413659" y="1331754"/>
            <a:ext cx="358430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cap="all">
                <a:solidFill>
                  <a:schemeClr val="accent6">
                    <a:lumMod val="75000"/>
                  </a:schemeClr>
                </a:solidFill>
                <a:effectLst/>
                <a:latin typeface="Anthropic Sans"/>
              </a:rPr>
              <a:t>Adoption</a:t>
            </a:r>
          </a:p>
          <a:p>
            <a:pPr algn="l">
              <a:buNone/>
            </a:pPr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Bundle card CTR</a:t>
            </a:r>
            <a:r>
              <a:rPr lang="en-US" sz="1200" b="1" i="0">
                <a:solidFill>
                  <a:srgbClr val="73726C"/>
                </a:solidFill>
                <a:effectLst/>
                <a:latin typeface="Anthropic Sans"/>
              </a:rPr>
              <a:t>% </a:t>
            </a:r>
            <a:r>
              <a:rPr lang="en-US" sz="1200" b="0" i="0">
                <a:solidFill>
                  <a:srgbClr val="73726C"/>
                </a:solidFill>
                <a:effectLst/>
                <a:latin typeface="Anthropic Sans"/>
              </a:rPr>
              <a:t>of home-screen sessions that tap any bundle card. Baseline readiness signal — low CTR = poor placement or irrelevant curation, not a conversion problem.</a:t>
            </a:r>
            <a:endParaRPr lang="en-US" sz="1200" b="0" i="0">
              <a:solidFill>
                <a:srgbClr val="000000"/>
              </a:solidFill>
              <a:effectLst/>
              <a:latin typeface="Anthropic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71823-EA71-423E-0C00-399C8B10D3DF}"/>
              </a:ext>
            </a:extLst>
          </p:cNvPr>
          <p:cNvSpPr txBox="1"/>
          <p:nvPr/>
        </p:nvSpPr>
        <p:spPr>
          <a:xfrm>
            <a:off x="413659" y="2383860"/>
            <a:ext cx="358430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200" b="1" cap="all">
                <a:solidFill>
                  <a:srgbClr val="C00000"/>
                </a:solidFill>
                <a:latin typeface="Anthropic Sans"/>
              </a:rPr>
              <a:t>Conversion &amp; AOV</a:t>
            </a:r>
          </a:p>
          <a:p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Bundle add-to-cart rate%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</a:rPr>
              <a:t>of bundle card taps that result in "Add Bundle" being pressed. Validates that bundle contents and discount depth are compelling enough to convert intent.</a:t>
            </a:r>
            <a:endParaRPr lang="en-US" sz="1200" i="0">
              <a:solidFill>
                <a:srgbClr val="000000"/>
              </a:solidFill>
              <a:effectLst/>
              <a:latin typeface="Anthropic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55EB2E-0C0F-D6A0-27C5-7C8076FA9CC2}"/>
              </a:ext>
            </a:extLst>
          </p:cNvPr>
          <p:cNvSpPr txBox="1"/>
          <p:nvPr/>
        </p:nvSpPr>
        <p:spPr>
          <a:xfrm>
            <a:off x="413659" y="3435966"/>
            <a:ext cx="358430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200" b="1" cap="all">
                <a:solidFill>
                  <a:schemeClr val="tx2"/>
                </a:solidFill>
                <a:latin typeface="Anthropic Sans"/>
              </a:rPr>
              <a:t>RETENTION</a:t>
            </a:r>
          </a:p>
          <a:p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Same-bundle repurchase rate (D30)%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</a:rPr>
              <a:t>of bundle buyers who reorder the same bundle within 30 days. The habit formation signal — indicates bundles are becoming a reorder shortcut, not a novelty.</a:t>
            </a:r>
            <a:endParaRPr lang="en-US" sz="1200" i="0">
              <a:solidFill>
                <a:srgbClr val="000000"/>
              </a:solidFill>
              <a:effectLst/>
              <a:latin typeface="Anthropic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6B016C-F732-47D0-8EF2-30F97A6A9724}"/>
              </a:ext>
            </a:extLst>
          </p:cNvPr>
          <p:cNvSpPr txBox="1"/>
          <p:nvPr/>
        </p:nvSpPr>
        <p:spPr>
          <a:xfrm>
            <a:off x="5146039" y="1333086"/>
            <a:ext cx="358430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1" i="0" cap="all">
                <a:solidFill>
                  <a:schemeClr val="accent2"/>
                </a:solidFill>
                <a:effectLst/>
                <a:latin typeface="Anthropic Sans"/>
              </a:rPr>
              <a:t>Acquisition &amp; Setup</a:t>
            </a:r>
          </a:p>
          <a:p>
            <a:pPr algn="l">
              <a:buNone/>
            </a:pPr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Buddy invite sent rate%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</a:rPr>
              <a:t>of users visiting the "Add a Buddy" screen who complete the invite flow (phone number entered + invite sent). Top-of-funnel health check.</a:t>
            </a:r>
            <a:endParaRPr lang="en-US" sz="1200" i="0">
              <a:solidFill>
                <a:srgbClr val="000000"/>
              </a:solidFill>
              <a:effectLst/>
              <a:latin typeface="Anthropic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F392BA-4EA9-56CD-A7A5-01B16030AEBA}"/>
              </a:ext>
            </a:extLst>
          </p:cNvPr>
          <p:cNvSpPr txBox="1"/>
          <p:nvPr/>
        </p:nvSpPr>
        <p:spPr>
          <a:xfrm>
            <a:off x="5146039" y="2385192"/>
            <a:ext cx="358430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200" b="1" cap="all">
                <a:solidFill>
                  <a:schemeClr val="accent1">
                    <a:lumMod val="75000"/>
                  </a:schemeClr>
                </a:solidFill>
                <a:latin typeface="Anthropic Sans"/>
              </a:rPr>
              <a:t>Usage &amp; Experience</a:t>
            </a:r>
          </a:p>
          <a:p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Shop session completion rate%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</a:rPr>
              <a:t>o</a:t>
            </a:r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f </a:t>
            </a:r>
            <a:r>
              <a:rPr lang="en-US" sz="1200" b="1">
                <a:solidFill>
                  <a:srgbClr val="141413"/>
                </a:solidFill>
                <a:latin typeface="Anthropic Sans"/>
              </a:rPr>
              <a:t> Buddy Mode 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</a:rPr>
              <a:t>sessions </a:t>
            </a:r>
            <a:r>
              <a:rPr lang="en-US" sz="1200">
                <a:solidFill>
                  <a:srgbClr val="141413"/>
                </a:solidFill>
                <a:latin typeface="Anthropic Sans"/>
              </a:rPr>
              <a:t> 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</a:rPr>
              <a:t>that result in a "Send to Buddy" submission. Core usability metric — Suresh must be able to complete the flow unaided</a:t>
            </a:r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.</a:t>
            </a:r>
            <a:endParaRPr lang="en-US" sz="1200" i="0">
              <a:solidFill>
                <a:srgbClr val="000000"/>
              </a:solidFill>
              <a:effectLst/>
              <a:latin typeface="Anthropic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6656F-2D8F-1936-0F7D-59DFF51A897D}"/>
              </a:ext>
            </a:extLst>
          </p:cNvPr>
          <p:cNvSpPr txBox="1"/>
          <p:nvPr/>
        </p:nvSpPr>
        <p:spPr>
          <a:xfrm>
            <a:off x="5146039" y="3437298"/>
            <a:ext cx="358430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200" b="1" cap="all">
                <a:solidFill>
                  <a:srgbClr val="002060"/>
                </a:solidFill>
                <a:latin typeface="Anthropic Sans"/>
              </a:rPr>
              <a:t>CHURN RATE</a:t>
            </a:r>
            <a:endParaRPr lang="en-IN" sz="1200" b="1" cap="all">
              <a:solidFill>
                <a:schemeClr val="accent1"/>
              </a:solidFill>
              <a:latin typeface="Anthropic Sans"/>
            </a:endParaRPr>
          </a:p>
          <a:p>
            <a:r>
              <a:rPr lang="en-US" sz="1200" b="1">
                <a:solidFill>
                  <a:srgbClr val="141413"/>
                </a:solidFill>
                <a:latin typeface="Anthropic Sans"/>
              </a:rPr>
              <a:t>Buddy</a:t>
            </a:r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 account D30 </a:t>
            </a:r>
            <a:r>
              <a:rPr lang="en-US" sz="1200" b="1">
                <a:solidFill>
                  <a:srgbClr val="141413"/>
                </a:solidFill>
                <a:latin typeface="Anthropic Sans"/>
              </a:rPr>
              <a:t>churn rate%</a:t>
            </a:r>
            <a:r>
              <a:rPr lang="en-US" sz="1200" b="1" i="0">
                <a:solidFill>
                  <a:srgbClr val="141413"/>
                </a:solidFill>
                <a:effectLst/>
                <a:latin typeface="Anthropic Sans"/>
              </a:rPr>
              <a:t> </a:t>
            </a:r>
            <a:r>
              <a:rPr lang="en-US" sz="1200">
                <a:solidFill>
                  <a:srgbClr val="141413"/>
                </a:solidFill>
                <a:latin typeface="Anthropic Sans"/>
                <a:ea typeface="+mn-lt"/>
                <a:cs typeface="+mn-lt"/>
              </a:rPr>
              <a:t>share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  <a:ea typeface="+mn-lt"/>
                <a:cs typeface="+mn-lt"/>
              </a:rPr>
              <a:t>of </a:t>
            </a:r>
            <a:r>
              <a:rPr lang="en-US" sz="1200">
                <a:solidFill>
                  <a:srgbClr val="141413"/>
                </a:solidFill>
                <a:latin typeface="Anthropic Sans"/>
                <a:ea typeface="+mn-lt"/>
                <a:cs typeface="+mn-lt"/>
              </a:rPr>
              <a:t>linked buddy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  <a:ea typeface="+mn-lt"/>
                <a:cs typeface="+mn-lt"/>
              </a:rPr>
              <a:t>accounts that </a:t>
            </a:r>
            <a:r>
              <a:rPr lang="en-US" sz="1200">
                <a:solidFill>
                  <a:srgbClr val="141413"/>
                </a:solidFill>
                <a:latin typeface="Anthropic Sans"/>
                <a:ea typeface="+mn-lt"/>
                <a:cs typeface="+mn-lt"/>
              </a:rPr>
              <a:t>place zero orders in the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  <a:ea typeface="+mn-lt"/>
                <a:cs typeface="+mn-lt"/>
              </a:rPr>
              <a:t>30 days </a:t>
            </a:r>
            <a:r>
              <a:rPr lang="en-US" sz="1200">
                <a:solidFill>
                  <a:srgbClr val="141413"/>
                </a:solidFill>
                <a:latin typeface="Anthropic Sans"/>
                <a:ea typeface="+mn-lt"/>
                <a:cs typeface="+mn-lt"/>
              </a:rPr>
              <a:t>following their 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  <a:ea typeface="+mn-lt"/>
                <a:cs typeface="+mn-lt"/>
              </a:rPr>
              <a:t>first order.</a:t>
            </a:r>
            <a:endParaRPr lang="en-US" sz="1200">
              <a:solidFill>
                <a:srgbClr val="000000"/>
              </a:solidFill>
              <a:latin typeface="Anthropic Sans"/>
              <a:ea typeface="+mn-lt"/>
              <a:cs typeface="+mn-lt"/>
            </a:endParaRPr>
          </a:p>
          <a:p>
            <a:r>
              <a:rPr lang="en-US" sz="1200">
                <a:solidFill>
                  <a:srgbClr val="141413"/>
                </a:solidFill>
                <a:latin typeface="Anthropic Sans"/>
                <a:ea typeface="+mn-lt"/>
                <a:cs typeface="+mn-lt"/>
              </a:rPr>
              <a:t>Since this cohort</a:t>
            </a:r>
            <a:r>
              <a:rPr lang="en-US" sz="1200" i="0">
                <a:solidFill>
                  <a:srgbClr val="141413"/>
                </a:solidFill>
                <a:effectLst/>
                <a:latin typeface="Anthropic Sans"/>
                <a:ea typeface="+mn-lt"/>
                <a:cs typeface="+mn-lt"/>
              </a:rPr>
              <a:t> has never been acquired </a:t>
            </a:r>
            <a:r>
              <a:rPr lang="en-US" sz="1200">
                <a:solidFill>
                  <a:srgbClr val="141413"/>
                </a:solidFill>
                <a:latin typeface="Anthropic Sans"/>
                <a:ea typeface="+mn-lt"/>
                <a:cs typeface="+mn-lt"/>
              </a:rPr>
              <a:t>before, any churn reading sets the baseline. </a:t>
            </a:r>
            <a:endParaRPr lang="en-US" sz="1200" i="0">
              <a:solidFill>
                <a:srgbClr val="141413"/>
              </a:solidFill>
              <a:effectLst/>
              <a:latin typeface="Anthropic Sans"/>
              <a:ea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34EE7EC-9694-1002-3301-7973F803D145}"/>
              </a:ext>
            </a:extLst>
          </p:cNvPr>
          <p:cNvSpPr/>
          <p:nvPr/>
        </p:nvSpPr>
        <p:spPr>
          <a:xfrm>
            <a:off x="906424" y="993426"/>
            <a:ext cx="230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Bundles Solution</a:t>
            </a:r>
            <a:endParaRPr lang="en-US" sz="120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109017A-FC9A-1D33-60C0-FE7A61618D73}"/>
              </a:ext>
            </a:extLst>
          </p:cNvPr>
          <p:cNvSpPr/>
          <p:nvPr/>
        </p:nvSpPr>
        <p:spPr>
          <a:xfrm>
            <a:off x="6295935" y="994758"/>
            <a:ext cx="1284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b="1">
                <a:solidFill>
                  <a:srgbClr val="1A1A1A"/>
                </a:solidFill>
                <a:latin typeface="Arial Black" pitchFamily="34" charset="0"/>
              </a:rPr>
              <a:t>Buddy Mode</a:t>
            </a:r>
            <a:endParaRPr lang="en-US" sz="1200" b="1">
              <a:solidFill>
                <a:srgbClr val="1A1A1A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54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Q-Commerce — Blinkit Brand Analysis</dc:title>
  <dc:subject>PptxGenJS Presentation</dc:subject>
  <dc:creator>PptxGenJS</dc:creator>
  <cp:revision>2</cp:revision>
  <dcterms:created xsi:type="dcterms:W3CDTF">2026-03-28T20:04:26Z</dcterms:created>
  <dcterms:modified xsi:type="dcterms:W3CDTF">2026-05-16T17:33:14Z</dcterms:modified>
</cp:coreProperties>
</file>